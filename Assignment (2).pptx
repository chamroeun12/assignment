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job/Assignment-CI-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188720" y="1280160"/>
            <a:ext cx="292608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CLOUD COMPUTING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Automated CI/CD, Infrastructure as Code &amp;</a:t>
            </a:r>
            <a:br>
              <a:rPr dirty="0"/>
            </a:br>
            <a:r>
              <a:rPr dirty="0"/>
              <a:t>Multi-Service Container Orchestration</a:t>
            </a:r>
          </a:p>
          <a:p>
            <a:pPr>
              <a:defRPr sz="1500">
                <a:solidFill>
                  <a:srgbClr val="E0F2FE"/>
                </a:solidFill>
                <a:latin typeface="Segoe UI"/>
              </a:defRPr>
            </a:pPr>
            <a:r>
              <a:rPr dirty="0"/>
              <a:t>Production Architecture on AWS EC2 with GitHub, Jenkins, Terraform, Docker Swarm &amp; Nginx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75192"/>
            <a:ext cx="9601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sz="2000" dirty="0"/>
              <a:t>Student / Engineer: Chamroeun Saran  |  Course: Master of Science in Cloud Computing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rPr sz="2000" dirty="0"/>
              <a:t>Repository: https://github.com/Chamroeun12/Assignment  |  AWS Region: Sydney (ap-southeast-2)</a:t>
            </a:r>
          </a:p>
          <a:p>
            <a:pPr>
              <a:defRPr sz="1100" b="1">
                <a:solidFill>
                  <a:srgbClr val="16A34A"/>
                </a:solidFill>
                <a:latin typeface="Segoe UI"/>
              </a:defRPr>
            </a:pPr>
            <a:r>
              <a:rPr sz="2000" dirty="0"/>
              <a:t>Verification: Jenkins Pipeline #4 Passed  |  Live Cluster IP: 54.253.170.114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CAPSTONE SCOPE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Engineering Goals &amp; Rubric 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831080" cy="1800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rPr sz="1400" dirty="0"/>
              <a:t>1. </a:t>
            </a:r>
            <a:r>
              <a:rPr sz="1400" dirty="0" err="1"/>
              <a:t>GitOps</a:t>
            </a:r>
            <a:r>
              <a:rPr sz="1400" dirty="0"/>
              <a:t> &amp; Version Control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Feature branching strategy (feature/</a:t>
            </a:r>
            <a:r>
              <a:rPr sz="1400" dirty="0" err="1"/>
              <a:t>eks-argocd-cicd</a:t>
            </a:r>
            <a:r>
              <a:rPr sz="1400"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Pull Request workflow with code reviews and automated </a:t>
            </a:r>
            <a:r>
              <a:rPr lang="en-US" sz="1400" dirty="0"/>
              <a:t>	</a:t>
            </a:r>
            <a:r>
              <a:rPr sz="1400" dirty="0"/>
              <a:t>hooks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Frequent, atomic commits with descriptive conventional </a:t>
            </a:r>
            <a:r>
              <a:rPr lang="en-US" sz="1400" dirty="0"/>
              <a:t>	</a:t>
            </a:r>
            <a:r>
              <a:rPr sz="1400" dirty="0"/>
              <a:t>messages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Zero credentials or sensitive secrets committed to </a:t>
            </a:r>
            <a:r>
              <a:rPr lang="en-US" sz="1400" dirty="0"/>
              <a:t>	</a:t>
            </a:r>
            <a:r>
              <a:rPr sz="1400" dirty="0"/>
              <a:t>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754880" cy="1800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rPr sz="1400" dirty="0"/>
              <a:t>2. Infrastructure as Code (</a:t>
            </a:r>
            <a:r>
              <a:rPr sz="1400" dirty="0" err="1"/>
              <a:t>IaC</a:t>
            </a:r>
            <a:r>
              <a:rPr sz="1400"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100% reproducible AWS EC2 infrastructure using </a:t>
            </a:r>
            <a:r>
              <a:rPr lang="en-US" sz="1400" dirty="0"/>
              <a:t>	</a:t>
            </a:r>
            <a:r>
              <a:rPr sz="1400" dirty="0"/>
              <a:t>Terraform HCL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Dedicated VPC, public subnets, internet gateway, and </a:t>
            </a:r>
            <a:r>
              <a:rPr lang="en-US" sz="1400" dirty="0"/>
              <a:t>	</a:t>
            </a:r>
            <a:r>
              <a:rPr sz="1400" dirty="0"/>
              <a:t>route tables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Least-privilege Security Groups with internal cluster </a:t>
            </a:r>
            <a:r>
              <a:rPr lang="en-US" sz="1400" dirty="0"/>
              <a:t>	</a:t>
            </a:r>
            <a:r>
              <a:rPr sz="1400" dirty="0"/>
              <a:t>isolation (self=true)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Dynamic Canonical Ubuntu 22.04 LTS AMI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1800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rPr sz="1400" dirty="0"/>
              <a:t>3. Automated CI/CD Pipeline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Declarative </a:t>
            </a:r>
            <a:r>
              <a:rPr sz="1400" dirty="0" err="1"/>
              <a:t>Jenkinsfile</a:t>
            </a:r>
            <a:r>
              <a:rPr sz="1400" dirty="0"/>
              <a:t> pipeline triggered automatically on </a:t>
            </a:r>
            <a:r>
              <a:rPr lang="en-US" sz="1400" dirty="0"/>
              <a:t>	</a:t>
            </a:r>
            <a:r>
              <a:rPr sz="1400" dirty="0"/>
              <a:t>push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Automated PEP8 linting (Flake8) and unit tests (</a:t>
            </a:r>
            <a:r>
              <a:rPr sz="1400" dirty="0" err="1"/>
              <a:t>Pytest</a:t>
            </a:r>
            <a:r>
              <a:rPr sz="1400" dirty="0"/>
              <a:t> 5/5, </a:t>
            </a:r>
            <a:r>
              <a:rPr lang="en-US" sz="1400" dirty="0"/>
              <a:t>	</a:t>
            </a:r>
            <a:r>
              <a:rPr sz="1400" dirty="0"/>
              <a:t>89% </a:t>
            </a:r>
            <a:r>
              <a:rPr sz="1400" dirty="0" err="1"/>
              <a:t>cov</a:t>
            </a:r>
            <a:r>
              <a:rPr sz="1400" dirty="0"/>
              <a:t>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Container layer vulnerability scanning via </a:t>
            </a:r>
            <a:r>
              <a:rPr sz="1400" dirty="0" err="1"/>
              <a:t>Trivy</a:t>
            </a:r>
            <a:r>
              <a:rPr sz="1400" dirty="0"/>
              <a:t> CVE </a:t>
            </a:r>
            <a:r>
              <a:rPr lang="en-US" sz="1400" dirty="0"/>
              <a:t>	</a:t>
            </a:r>
            <a:r>
              <a:rPr sz="1400" dirty="0"/>
              <a:t>inspector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Automated image building and publishing to Amazon ECR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800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rPr sz="1400" dirty="0"/>
              <a:t>4. Resilient Container Orchestration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Docker Swarm multi-node cluster (1 Manager Leader + 2 </a:t>
            </a:r>
            <a:r>
              <a:rPr lang="en-US" sz="1400" dirty="0"/>
              <a:t>	</a:t>
            </a:r>
            <a:r>
              <a:rPr sz="1400" dirty="0"/>
              <a:t>Workers)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Nginx reverse proxy load-balancing traffic across backend </a:t>
            </a:r>
            <a:r>
              <a:rPr lang="en-US" sz="1400" dirty="0"/>
              <a:t>	</a:t>
            </a:r>
            <a:r>
              <a:rPr sz="1400" dirty="0"/>
              <a:t>replicas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Zero-downtime rolling update strategy (order: start-first)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Extra Credit (+5): Automated Telegram alerts on build </a:t>
            </a:r>
            <a:r>
              <a:rPr lang="en-US" sz="1400" dirty="0"/>
              <a:t>	</a:t>
            </a:r>
            <a:r>
              <a:rPr sz="1400" dirty="0"/>
              <a:t>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End-to-End Request Path &amp; CI/CD Pipeline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9160" y="1938620"/>
            <a:ext cx="4587240" cy="4078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Architecture Components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GitHub Repository: </a:t>
            </a:r>
            <a:r>
              <a:rPr sz="1400" b="0" dirty="0">
                <a:solidFill>
                  <a:srgbClr val="64748B"/>
                </a:solidFill>
              </a:rPr>
              <a:t>Authoritative source of truth for app code, </a:t>
            </a:r>
            <a:r>
              <a:rPr sz="1400" b="0" dirty="0" err="1">
                <a:solidFill>
                  <a:srgbClr val="64748B"/>
                </a:solidFill>
              </a:rPr>
              <a:t>Dockerfiles</a:t>
            </a:r>
            <a:r>
              <a:rPr sz="1400" b="0" dirty="0">
                <a:solidFill>
                  <a:srgbClr val="64748B"/>
                </a:solidFill>
              </a:rPr>
              <a:t>, and </a:t>
            </a:r>
            <a:r>
              <a:rPr sz="1400" b="0" dirty="0" err="1">
                <a:solidFill>
                  <a:srgbClr val="64748B"/>
                </a:solidFill>
              </a:rPr>
              <a:t>IaC</a:t>
            </a:r>
            <a:r>
              <a:rPr sz="1400" b="0" dirty="0">
                <a:solidFill>
                  <a:srgbClr val="64748B"/>
                </a:solidFill>
              </a:rPr>
              <a:t>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Jenkins CI/CD: </a:t>
            </a:r>
            <a:r>
              <a:rPr sz="1400" b="0" dirty="0">
                <a:solidFill>
                  <a:srgbClr val="64748B"/>
                </a:solidFill>
              </a:rPr>
              <a:t>Automates testing, CVE scanning, ECR pushing, and stack deployment.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Amazon ECR: </a:t>
            </a:r>
            <a:r>
              <a:rPr sz="1400" b="0" dirty="0">
                <a:solidFill>
                  <a:srgbClr val="64748B"/>
                </a:solidFill>
              </a:rPr>
              <a:t>Private AES-256 encrypted registry hosting versioned container images.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AWS EC2 &amp; VPC: </a:t>
            </a:r>
            <a:r>
              <a:rPr sz="1400" b="0" dirty="0">
                <a:solidFill>
                  <a:srgbClr val="64748B"/>
                </a:solidFill>
              </a:rPr>
              <a:t>Dedicated 10.0.0.0/16 VPC with 1 Manager (t3.small) and 2 Workers (t3.micro).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Nginx Load Balancer: </a:t>
            </a:r>
            <a:r>
              <a:rPr sz="1400" b="0" dirty="0">
                <a:solidFill>
                  <a:srgbClr val="64748B"/>
                </a:solidFill>
              </a:rPr>
              <a:t>Reverse proxy on Port 80 distributing ingress across Flask replicas.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Docker Swarm Mesh: </a:t>
            </a:r>
            <a:r>
              <a:rPr sz="1400" b="0" dirty="0">
                <a:solidFill>
                  <a:srgbClr val="64748B"/>
                </a:solidFill>
              </a:rPr>
              <a:t>Overlay network (Port 4789) routing requests via internal VIP (</a:t>
            </a:r>
            <a:r>
              <a:rPr sz="1400" b="0" dirty="0" err="1">
                <a:solidFill>
                  <a:srgbClr val="64748B"/>
                </a:solidFill>
              </a:rPr>
              <a:t>backend_app</a:t>
            </a:r>
            <a:r>
              <a:rPr sz="1400" b="0" dirty="0">
                <a:solidFill>
                  <a:srgbClr val="64748B"/>
                </a:solidFill>
              </a:rPr>
              <a:t>).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Telegram Bot Alerts: </a:t>
            </a:r>
            <a:r>
              <a:rPr sz="1400" b="0" dirty="0">
                <a:solidFill>
                  <a:srgbClr val="64748B"/>
                </a:solidFill>
              </a:rPr>
              <a:t>Instant push notifications reporting job status, tag, and build 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ICD_Pipeline_Commit_to_Produ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093149"/>
            <a:ext cx="5394960" cy="37689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INFRASTRUCTURE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Declarative AWS Provisioning via Terraform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46767"/>
            <a:ext cx="4607560" cy="387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Terraform </a:t>
            </a:r>
            <a:r>
              <a:rPr sz="1600" dirty="0" err="1"/>
              <a:t>IaC</a:t>
            </a:r>
            <a:r>
              <a:rPr sz="1600" dirty="0"/>
              <a:t> Highlights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Modular Architecture: </a:t>
            </a:r>
            <a:r>
              <a:rPr sz="1400" b="0" dirty="0">
                <a:solidFill>
                  <a:srgbClr val="64748B"/>
                </a:solidFill>
              </a:rPr>
              <a:t>Structured across main.tf, variables.tf, outputs.tf, and backend.tf for maintainability.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Dynamic AMI Resolution: </a:t>
            </a:r>
            <a:r>
              <a:rPr sz="1400" b="0" dirty="0">
                <a:solidFill>
                  <a:srgbClr val="64748B"/>
                </a:solidFill>
              </a:rPr>
              <a:t>Uses data '</a:t>
            </a:r>
            <a:r>
              <a:rPr sz="1400" b="0" dirty="0" err="1">
                <a:solidFill>
                  <a:srgbClr val="64748B"/>
                </a:solidFill>
              </a:rPr>
              <a:t>aws_ami</a:t>
            </a:r>
            <a:r>
              <a:rPr sz="1400" b="0" dirty="0">
                <a:solidFill>
                  <a:srgbClr val="64748B"/>
                </a:solidFill>
              </a:rPr>
              <a:t>' 'ubuntu' filter querying Canonical publisher (099720109477), eliminating hardcoded IDs.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Least-Privilege Security Group: </a:t>
            </a:r>
            <a:r>
              <a:rPr sz="1400" b="0" dirty="0">
                <a:solidFill>
                  <a:srgbClr val="64748B"/>
                </a:solidFill>
              </a:rPr>
              <a:t>Restricts SSH (22) to admin CIDR, Web (80/443) to public, and Swarm (2377, 7946, 4789) strictly to self=true.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Multi-Node Compute Topology: </a:t>
            </a:r>
            <a:r>
              <a:rPr sz="1400" b="0" dirty="0">
                <a:solidFill>
                  <a:srgbClr val="64748B"/>
                </a:solidFill>
              </a:rPr>
              <a:t>Provisions 1 Swarm Manager (t3.small) and 2 Workers (t3.micro) tagged with environment and role metadata.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State Management: </a:t>
            </a:r>
            <a:r>
              <a:rPr sz="1400" b="0" dirty="0">
                <a:solidFill>
                  <a:srgbClr val="64748B"/>
                </a:solidFill>
              </a:rPr>
              <a:t>Configured S3 remote state storage with DynamoDB state locking to prevent concurrent mutation conflicts.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BF7CEA-9904-471E-B900-D3886DAA5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271" y="2428437"/>
            <a:ext cx="5440680" cy="30984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CONTAINERIZATION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Production </a:t>
            </a:r>
            <a:r>
              <a:rPr dirty="0" err="1"/>
              <a:t>Dockerfile</a:t>
            </a:r>
            <a:r>
              <a:rPr dirty="0"/>
              <a:t> &amp; Security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4480560" cy="41703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Containerization Standards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Multi-Stage Build Pattern: </a:t>
            </a:r>
            <a:r>
              <a:rPr sz="1400" b="0" dirty="0">
                <a:solidFill>
                  <a:srgbClr val="64748B"/>
                </a:solidFill>
              </a:rPr>
              <a:t>Separates Python compilation dependencies (builder) from minimal production runtime (python:3.10-slim).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Non-Root Security Context: </a:t>
            </a:r>
            <a:r>
              <a:rPr sz="1400" b="0" dirty="0">
                <a:solidFill>
                  <a:srgbClr val="64748B"/>
                </a:solidFill>
              </a:rPr>
              <a:t>Runs as dedicated </a:t>
            </a:r>
            <a:r>
              <a:rPr sz="1400" b="0" dirty="0" err="1">
                <a:solidFill>
                  <a:srgbClr val="64748B"/>
                </a:solidFill>
              </a:rPr>
              <a:t>appuser</a:t>
            </a:r>
            <a:r>
              <a:rPr sz="1400" b="0" dirty="0">
                <a:solidFill>
                  <a:srgbClr val="64748B"/>
                </a:solidFill>
              </a:rPr>
              <a:t> (UID 1000) with </a:t>
            </a:r>
            <a:r>
              <a:rPr sz="1400" b="0" dirty="0" err="1">
                <a:solidFill>
                  <a:srgbClr val="64748B"/>
                </a:solidFill>
              </a:rPr>
              <a:t>chown</a:t>
            </a:r>
            <a:r>
              <a:rPr sz="1400" b="0" dirty="0">
                <a:solidFill>
                  <a:srgbClr val="64748B"/>
                </a:solidFill>
              </a:rPr>
              <a:t> -R </a:t>
            </a:r>
            <a:r>
              <a:rPr sz="1400" b="0" dirty="0" err="1">
                <a:solidFill>
                  <a:srgbClr val="64748B"/>
                </a:solidFill>
              </a:rPr>
              <a:t>appuser:appuser</a:t>
            </a:r>
            <a:r>
              <a:rPr sz="1400" b="0" dirty="0">
                <a:solidFill>
                  <a:srgbClr val="64748B"/>
                </a:solidFill>
              </a:rPr>
              <a:t> /app to mitigate container breakout risks.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Container </a:t>
            </a:r>
            <a:r>
              <a:rPr sz="1400" dirty="0" err="1"/>
              <a:t>Healthcheck</a:t>
            </a:r>
            <a:r>
              <a:rPr sz="1400" dirty="0"/>
              <a:t>: </a:t>
            </a:r>
            <a:r>
              <a:rPr sz="1400" b="0" dirty="0">
                <a:solidFill>
                  <a:srgbClr val="64748B"/>
                </a:solidFill>
              </a:rPr>
              <a:t>Native Docker HEALTHCHECK validates endpoint http://127.0.0.1:5000/health every 30s with 3 retries.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Local Multi-Service Compose: </a:t>
            </a:r>
            <a:r>
              <a:rPr sz="1400" b="0" dirty="0">
                <a:solidFill>
                  <a:srgbClr val="64748B"/>
                </a:solidFill>
              </a:rPr>
              <a:t>docker-</a:t>
            </a:r>
            <a:r>
              <a:rPr sz="1400" b="0" dirty="0" err="1">
                <a:solidFill>
                  <a:srgbClr val="64748B"/>
                </a:solidFill>
              </a:rPr>
              <a:t>compose.yml</a:t>
            </a:r>
            <a:r>
              <a:rPr sz="1400" b="0" dirty="0">
                <a:solidFill>
                  <a:srgbClr val="64748B"/>
                </a:solidFill>
              </a:rPr>
              <a:t> defines local developer environment with web and nginx services sharing a bridge network.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Minimal Image Footprint: </a:t>
            </a:r>
            <a:r>
              <a:rPr sz="1400" b="0" dirty="0">
                <a:solidFill>
                  <a:srgbClr val="64748B"/>
                </a:solidFill>
              </a:rPr>
              <a:t>Utilizes .</a:t>
            </a:r>
            <a:r>
              <a:rPr sz="1400" b="0" dirty="0" err="1">
                <a:solidFill>
                  <a:srgbClr val="64748B"/>
                </a:solidFill>
              </a:rPr>
              <a:t>dockerignore</a:t>
            </a:r>
            <a:r>
              <a:rPr sz="1400" b="0" dirty="0">
                <a:solidFill>
                  <a:srgbClr val="64748B"/>
                </a:solidFill>
              </a:rPr>
              <a:t> to strip caches, git history, and secrets, reducing attack surface and pull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F24EE1-07D5-2A5D-667E-A674D1056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561" y="2133600"/>
            <a:ext cx="5280477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CI/CD PIPELINE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Jenkins Declarative Pipeline — 100% Green Build #4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23240" y="1645920"/>
            <a:ext cx="47548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8040" y="2007616"/>
            <a:ext cx="4297680" cy="38215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Pipeline Stages &amp; Metrics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rPr sz="1400" dirty="0"/>
              <a:t>✓ 1. Checkout SCM: </a:t>
            </a:r>
            <a:r>
              <a:rPr sz="1400" b="0" dirty="0">
                <a:solidFill>
                  <a:srgbClr val="64748B"/>
                </a:solidFill>
              </a:rPr>
              <a:t>Clones latest commit from GitHub (Chamroeun12/</a:t>
            </a:r>
            <a:r>
              <a:rPr sz="1400" b="0" dirty="0" err="1">
                <a:solidFill>
                  <a:srgbClr val="64748B"/>
                </a:solidFill>
              </a:rPr>
              <a:t>Assignment.git</a:t>
            </a:r>
            <a:r>
              <a:rPr sz="1400" b="0" dirty="0">
                <a:solidFill>
                  <a:srgbClr val="64748B"/>
                </a:solidFill>
              </a:rPr>
              <a:t>) and dynamically creates version tag.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rPr sz="1400" dirty="0"/>
              <a:t>✓ 2. Build &amp; Test: </a:t>
            </a:r>
            <a:r>
              <a:rPr sz="1400" b="0" dirty="0">
                <a:solidFill>
                  <a:srgbClr val="64748B"/>
                </a:solidFill>
              </a:rPr>
              <a:t>Creates Python </a:t>
            </a:r>
            <a:r>
              <a:rPr sz="1400" b="0" dirty="0" err="1">
                <a:solidFill>
                  <a:srgbClr val="64748B"/>
                </a:solidFill>
              </a:rPr>
              <a:t>venv</a:t>
            </a:r>
            <a:r>
              <a:rPr sz="1400" b="0" dirty="0">
                <a:solidFill>
                  <a:srgbClr val="64748B"/>
                </a:solidFill>
              </a:rPr>
              <a:t>, runs Flake8 PEP 8 (0 errors) and </a:t>
            </a:r>
            <a:r>
              <a:rPr sz="1400" b="0" dirty="0" err="1">
                <a:solidFill>
                  <a:srgbClr val="64748B"/>
                </a:solidFill>
              </a:rPr>
              <a:t>Pytest</a:t>
            </a:r>
            <a:r>
              <a:rPr sz="1400" b="0" dirty="0">
                <a:solidFill>
                  <a:srgbClr val="64748B"/>
                </a:solidFill>
              </a:rPr>
              <a:t> (5/5 passed, 89% code coverage).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rPr sz="1400" dirty="0"/>
              <a:t>✓ 3. Security &amp; Quality Scan: </a:t>
            </a:r>
            <a:r>
              <a:rPr sz="1400" b="0" dirty="0">
                <a:solidFill>
                  <a:srgbClr val="64748B"/>
                </a:solidFill>
              </a:rPr>
              <a:t>Scans container image layers for CVE vulnerabilities using </a:t>
            </a:r>
            <a:r>
              <a:rPr sz="1400" b="0" dirty="0" err="1">
                <a:solidFill>
                  <a:srgbClr val="64748B"/>
                </a:solidFill>
              </a:rPr>
              <a:t>Trivy</a:t>
            </a:r>
            <a:r>
              <a:rPr sz="1400" b="0" dirty="0">
                <a:solidFill>
                  <a:srgbClr val="64748B"/>
                </a:solidFill>
              </a:rPr>
              <a:t> inspector.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rPr sz="1400" dirty="0"/>
              <a:t>✓ 4. Authenticate &amp; Push ECR: </a:t>
            </a:r>
            <a:r>
              <a:rPr sz="1400" b="0" dirty="0">
                <a:solidFill>
                  <a:srgbClr val="64748B"/>
                </a:solidFill>
              </a:rPr>
              <a:t>Authenticates Docker client via </a:t>
            </a:r>
            <a:r>
              <a:rPr sz="1400" b="0" dirty="0" err="1">
                <a:solidFill>
                  <a:srgbClr val="64748B"/>
                </a:solidFill>
              </a:rPr>
              <a:t>aws</a:t>
            </a:r>
            <a:r>
              <a:rPr sz="1400" b="0" dirty="0">
                <a:solidFill>
                  <a:srgbClr val="64748B"/>
                </a:solidFill>
              </a:rPr>
              <a:t> </a:t>
            </a:r>
            <a:r>
              <a:rPr sz="1400" b="0" dirty="0" err="1">
                <a:solidFill>
                  <a:srgbClr val="64748B"/>
                </a:solidFill>
              </a:rPr>
              <a:t>ecr</a:t>
            </a:r>
            <a:r>
              <a:rPr sz="1400" b="0" dirty="0">
                <a:solidFill>
                  <a:srgbClr val="64748B"/>
                </a:solidFill>
              </a:rPr>
              <a:t> get-login-password and publishes versioned &amp; latest tags.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16A34A"/>
                </a:solidFill>
                <a:latin typeface="Segoe UI"/>
              </a:defRPr>
            </a:pPr>
            <a:r>
              <a:rPr sz="1400" dirty="0"/>
              <a:t>✓ 5. Deploy Stack to Swarm: </a:t>
            </a:r>
            <a:r>
              <a:rPr sz="1400" b="0" dirty="0">
                <a:solidFill>
                  <a:srgbClr val="64748B"/>
                </a:solidFill>
              </a:rPr>
              <a:t>Executes docker stack deploy --with-registry-auth to EC2 cluster with zero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2920" y="1168400"/>
            <a:ext cx="6426200" cy="51409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293E02-B906-278D-D238-340C9A6A7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920" y="1889347"/>
            <a:ext cx="6426200" cy="33227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CONTAINER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Docker Swarm Multi-Node Topology &amp; Rolling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9880" y="1184004"/>
            <a:ext cx="11343640" cy="3111771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1680" y="1384850"/>
            <a:ext cx="10789920" cy="26109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Swarm Cluster Architecture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Cluster Formation: </a:t>
            </a:r>
            <a:r>
              <a:rPr sz="1400" b="0" dirty="0">
                <a:solidFill>
                  <a:srgbClr val="64748B"/>
                </a:solidFill>
              </a:rPr>
              <a:t>1 Manager (Leader) managing Raft consensus (2377/</a:t>
            </a:r>
            <a:r>
              <a:rPr sz="1400" b="0" dirty="0" err="1">
                <a:solidFill>
                  <a:srgbClr val="64748B"/>
                </a:solidFill>
              </a:rPr>
              <a:t>tcp</a:t>
            </a:r>
            <a:r>
              <a:rPr sz="1400" b="0" dirty="0">
                <a:solidFill>
                  <a:srgbClr val="64748B"/>
                </a:solidFill>
              </a:rPr>
              <a:t>) and 2 Worker nodes in Ready &amp; Active state.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Routing Mesh &amp; Overlay Network: </a:t>
            </a:r>
            <a:r>
              <a:rPr sz="1400" b="0" dirty="0">
                <a:solidFill>
                  <a:srgbClr val="64748B"/>
                </a:solidFill>
              </a:rPr>
              <a:t>VXLAN overlay (4789/</a:t>
            </a:r>
            <a:r>
              <a:rPr sz="1400" b="0" dirty="0" err="1">
                <a:solidFill>
                  <a:srgbClr val="64748B"/>
                </a:solidFill>
              </a:rPr>
              <a:t>udp</a:t>
            </a:r>
            <a:r>
              <a:rPr sz="1400" b="0" dirty="0">
                <a:solidFill>
                  <a:srgbClr val="64748B"/>
                </a:solidFill>
              </a:rPr>
              <a:t>) provides multi-host container networking with built-in virtual IP load </a:t>
            </a:r>
            <a:r>
              <a:rPr lang="en-US" sz="1400" b="0" dirty="0">
                <a:solidFill>
                  <a:srgbClr val="64748B"/>
                </a:solidFill>
              </a:rPr>
              <a:t>	</a:t>
            </a:r>
            <a:r>
              <a:rPr sz="1400" b="0" dirty="0">
                <a:solidFill>
                  <a:srgbClr val="64748B"/>
                </a:solidFill>
              </a:rPr>
              <a:t>balancing.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Zero-Downtime Rolling Update: </a:t>
            </a:r>
            <a:r>
              <a:rPr sz="1400" b="0" dirty="0">
                <a:solidFill>
                  <a:srgbClr val="64748B"/>
                </a:solidFill>
              </a:rPr>
              <a:t>Configured order: start-first, parallelism: 1, delay: 10s. New container must pass </a:t>
            </a:r>
            <a:r>
              <a:rPr sz="1400" b="0" dirty="0" err="1">
                <a:solidFill>
                  <a:srgbClr val="64748B"/>
                </a:solidFill>
              </a:rPr>
              <a:t>healthcheck</a:t>
            </a:r>
            <a:r>
              <a:rPr sz="1400" b="0" dirty="0">
                <a:solidFill>
                  <a:srgbClr val="64748B"/>
                </a:solidFill>
              </a:rPr>
              <a:t> before </a:t>
            </a:r>
            <a:r>
              <a:rPr lang="en-US" sz="1400" b="0" dirty="0">
                <a:solidFill>
                  <a:srgbClr val="64748B"/>
                </a:solidFill>
              </a:rPr>
              <a:t>	</a:t>
            </a:r>
            <a:r>
              <a:rPr sz="1400" b="0" dirty="0">
                <a:solidFill>
                  <a:srgbClr val="64748B"/>
                </a:solidFill>
              </a:rPr>
              <a:t>terminating old task.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Credential Forwarding: </a:t>
            </a:r>
            <a:r>
              <a:rPr sz="1400" b="0" dirty="0">
                <a:solidFill>
                  <a:srgbClr val="64748B"/>
                </a:solidFill>
              </a:rPr>
              <a:t>Uses docker stack deploy --with-registry-auth so worker nodes authenticate securely with Amazon ECR via the </a:t>
            </a:r>
            <a:r>
              <a:rPr lang="en-US" sz="1400" b="0" dirty="0">
                <a:solidFill>
                  <a:srgbClr val="64748B"/>
                </a:solidFill>
              </a:rPr>
              <a:t>	</a:t>
            </a:r>
            <a:r>
              <a:rPr sz="1400" b="0" dirty="0">
                <a:solidFill>
                  <a:srgbClr val="64748B"/>
                </a:solidFill>
              </a:rPr>
              <a:t>manager.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Fault Tolerance: </a:t>
            </a:r>
            <a:r>
              <a:rPr sz="1400" b="0" dirty="0">
                <a:solidFill>
                  <a:srgbClr val="64748B"/>
                </a:solidFill>
              </a:rPr>
              <a:t>Automatic task rescheduling if any node or container fails, ensuring constant 2/2 replica availability.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7420F7-F098-3FCE-C8E7-2710D6CA58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807"/>
          <a:stretch>
            <a:fillRect/>
          </a:stretch>
        </p:blipFill>
        <p:spPr>
          <a:xfrm>
            <a:off x="541823" y="4634950"/>
            <a:ext cx="11111697" cy="1384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NETWORK INGRESS &amp;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Nginx Reverse Proxy &amp; Round-Robin Load Balancing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95018"/>
            <a:ext cx="4480560" cy="41652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Reverse Proxy Architecture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Port 80 Ingress Termination: </a:t>
            </a:r>
            <a:r>
              <a:rPr sz="1400" b="0" dirty="0">
                <a:solidFill>
                  <a:srgbClr val="64748B"/>
                </a:solidFill>
              </a:rPr>
              <a:t>Nginx binds to host Port 80, shielding backend application containers from direct public exposure.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Round-Robin Traffic Balancing: </a:t>
            </a:r>
            <a:r>
              <a:rPr sz="1400" b="0" dirty="0">
                <a:solidFill>
                  <a:srgbClr val="64748B"/>
                </a:solidFill>
              </a:rPr>
              <a:t>Routes requests to internal VIP upstream </a:t>
            </a:r>
            <a:r>
              <a:rPr sz="1400" b="0" dirty="0" err="1">
                <a:solidFill>
                  <a:srgbClr val="64748B"/>
                </a:solidFill>
              </a:rPr>
              <a:t>backend_app</a:t>
            </a:r>
            <a:r>
              <a:rPr sz="1400" b="0" dirty="0">
                <a:solidFill>
                  <a:srgbClr val="64748B"/>
                </a:solidFill>
              </a:rPr>
              <a:t> (web:5000) across replicated Flask tasks.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GET / (Web UI): </a:t>
            </a:r>
            <a:r>
              <a:rPr sz="1400" b="0" dirty="0">
                <a:solidFill>
                  <a:srgbClr val="64748B"/>
                </a:solidFill>
              </a:rPr>
              <a:t>Renders interactive cloud dashboard showing hostname, system stats, and runtime metrics.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GET /health (Application Health): </a:t>
            </a:r>
            <a:r>
              <a:rPr sz="1400" b="0" dirty="0">
                <a:solidFill>
                  <a:srgbClr val="64748B"/>
                </a:solidFill>
              </a:rPr>
              <a:t>HTTP 200 OK returning {"status": "healthy", "version": "1.0.0"}.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GET /</a:t>
            </a:r>
            <a:r>
              <a:rPr sz="1400" dirty="0" err="1"/>
              <a:t>api</a:t>
            </a:r>
            <a:r>
              <a:rPr sz="1400" dirty="0"/>
              <a:t>/info (Backend Metadata): </a:t>
            </a:r>
            <a:r>
              <a:rPr sz="1400" b="0" dirty="0">
                <a:solidFill>
                  <a:srgbClr val="64748B"/>
                </a:solidFill>
              </a:rPr>
              <a:t>HTTP 200 OK displaying container hostname, cluster type (docker-swarm), and runtime.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GET /nginx-health: </a:t>
            </a:r>
            <a:r>
              <a:rPr sz="1400" b="0" dirty="0">
                <a:solidFill>
                  <a:srgbClr val="64748B"/>
                </a:solidFill>
              </a:rPr>
              <a:t>Dedicated proxy health probe confirming reverse proxy routing integrity.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1EB4FA-584D-7F39-8FFC-AE43E2910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286000"/>
            <a:ext cx="5410200" cy="33723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OPERATIONAL OBSERVABILITY (+5 EXTRA CREDIT)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Real-Time CI/CD Notifications via Telegram Bot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41212"/>
            <a:ext cx="4480560" cy="387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Telegram Alerting System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Automated Post-Action Callbacks: </a:t>
            </a:r>
            <a:r>
              <a:rPr sz="1400" b="0" dirty="0">
                <a:solidFill>
                  <a:srgbClr val="64748B"/>
                </a:solidFill>
              </a:rPr>
              <a:t>Integrated directly into </a:t>
            </a:r>
            <a:r>
              <a:rPr sz="1400" b="0" dirty="0" err="1">
                <a:solidFill>
                  <a:srgbClr val="64748B"/>
                </a:solidFill>
              </a:rPr>
              <a:t>Jenkinsfile</a:t>
            </a:r>
            <a:r>
              <a:rPr sz="1400" b="0" dirty="0">
                <a:solidFill>
                  <a:srgbClr val="64748B"/>
                </a:solidFill>
              </a:rPr>
              <a:t> post { success { ... } failure { ... } } blocks.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Distinct Success &amp; Failure Alerts: </a:t>
            </a:r>
            <a:r>
              <a:rPr sz="1400" b="0" dirty="0">
                <a:solidFill>
                  <a:srgbClr val="64748B"/>
                </a:solidFill>
              </a:rPr>
              <a:t>Sends formatted markdown messages reporting Job name, Build #, Git SHA, and Target cluster.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Secure Credential Injection: </a:t>
            </a:r>
            <a:r>
              <a:rPr sz="1400" b="0" dirty="0">
                <a:solidFill>
                  <a:srgbClr val="64748B"/>
                </a:solidFill>
              </a:rPr>
              <a:t>Bot token and Chat ID are fetched dynamically via Jenkins </a:t>
            </a:r>
            <a:r>
              <a:rPr sz="1400" b="0" dirty="0" err="1">
                <a:solidFill>
                  <a:srgbClr val="64748B"/>
                </a:solidFill>
              </a:rPr>
              <a:t>withCredentials</a:t>
            </a:r>
            <a:r>
              <a:rPr sz="1400" b="0" dirty="0">
                <a:solidFill>
                  <a:srgbClr val="64748B"/>
                </a:solidFill>
              </a:rPr>
              <a:t>, preventing credential leaks.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Non-Blocking Resilient Design: </a:t>
            </a:r>
            <a:r>
              <a:rPr sz="1400" b="0" dirty="0">
                <a:solidFill>
                  <a:srgbClr val="64748B"/>
                </a:solidFill>
              </a:rPr>
              <a:t>Wrapped in try/catch with fallback logging so builds succeed even if notifications are skipped.</a:t>
            </a:r>
          </a:p>
          <a:p>
            <a:pPr>
              <a:spcBef>
                <a:spcPts val="600"/>
              </a:spcBef>
              <a:spcAft>
                <a:spcPts val="50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400" dirty="0"/>
              <a:t>• Mobile &amp; Desktop Instant Delivery: </a:t>
            </a:r>
            <a:r>
              <a:rPr sz="1400" b="0" dirty="0">
                <a:solidFill>
                  <a:srgbClr val="64748B"/>
                </a:solidFill>
              </a:rPr>
              <a:t>DevOps engineers receive push notifications seconds after pipeline completion on mobile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548640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7A94BB-38F3-BA23-E39F-09AE0562E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71052"/>
            <a:ext cx="5049520" cy="3924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ENGINEERING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Technical Challenges &amp; Production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26024"/>
            <a:ext cx="4754880" cy="1502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1. Swarm Worker ECR Pull Authentication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 b="1">
                <a:solidFill>
                  <a:srgbClr val="DC2626"/>
                </a:solidFill>
              </a:defRPr>
            </a:pPr>
            <a:r>
              <a:rPr sz="1400" dirty="0"/>
              <a:t>Challenge: </a:t>
            </a:r>
            <a:r>
              <a:rPr sz="1400" b="0" dirty="0">
                <a:solidFill>
                  <a:srgbClr val="1E293B"/>
                </a:solidFill>
              </a:rPr>
              <a:t>Workers pull images directly from Amazon ECR but lacked AWS credentials stored on Manager.</a:t>
            </a:r>
          </a:p>
          <a:p>
            <a:pPr>
              <a:spcBef>
                <a:spcPts val="600"/>
              </a:spcBef>
              <a:defRPr sz="950" b="1">
                <a:solidFill>
                  <a:srgbClr val="16A34A"/>
                </a:solidFill>
              </a:defRPr>
            </a:pPr>
            <a:r>
              <a:rPr sz="1400" dirty="0"/>
              <a:t>Solution: </a:t>
            </a:r>
            <a:r>
              <a:rPr sz="1400" b="0" dirty="0">
                <a:solidFill>
                  <a:srgbClr val="64748B"/>
                </a:solidFill>
              </a:rPr>
              <a:t>Added --with-registry-auth flag to docker stack deploy, which forwards the Manager's ECR auth token securely through Swarm Raft control plane.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926024"/>
            <a:ext cx="4754880" cy="1502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2. Zero Downtime During Redeployments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 b="1">
                <a:solidFill>
                  <a:srgbClr val="DC2626"/>
                </a:solidFill>
              </a:defRPr>
            </a:pPr>
            <a:r>
              <a:rPr sz="1400" dirty="0"/>
              <a:t>Challenge: </a:t>
            </a:r>
            <a:r>
              <a:rPr sz="1400" b="0" dirty="0">
                <a:solidFill>
                  <a:srgbClr val="1E293B"/>
                </a:solidFill>
              </a:rPr>
              <a:t>Default Docker redeployment terminates existing tasks before initializing new ones (order: stop-first).</a:t>
            </a:r>
          </a:p>
          <a:p>
            <a:pPr>
              <a:spcBef>
                <a:spcPts val="600"/>
              </a:spcBef>
              <a:defRPr sz="950" b="1">
                <a:solidFill>
                  <a:srgbClr val="16A34A"/>
                </a:solidFill>
              </a:defRPr>
            </a:pPr>
            <a:r>
              <a:rPr sz="1400" dirty="0"/>
              <a:t>Solution: </a:t>
            </a:r>
            <a:r>
              <a:rPr sz="1400" b="0" dirty="0">
                <a:solidFill>
                  <a:srgbClr val="64748B"/>
                </a:solidFill>
              </a:rPr>
              <a:t>Configured order: start-first and parallelism: 1 with container </a:t>
            </a:r>
            <a:r>
              <a:rPr sz="1400" b="0" dirty="0" err="1">
                <a:solidFill>
                  <a:srgbClr val="64748B"/>
                </a:solidFill>
              </a:rPr>
              <a:t>healthcheck</a:t>
            </a:r>
            <a:r>
              <a:rPr sz="1400" b="0" dirty="0">
                <a:solidFill>
                  <a:srgbClr val="64748B"/>
                </a:solidFill>
              </a:rPr>
              <a:t> to guarantee new replicas are healthy before killing old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1502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3. Dynamic AMI Portability Across AWS Regions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 b="1">
                <a:solidFill>
                  <a:srgbClr val="DC2626"/>
                </a:solidFill>
              </a:defRPr>
            </a:pPr>
            <a:r>
              <a:rPr sz="1400" dirty="0"/>
              <a:t>Challenge: </a:t>
            </a:r>
            <a:r>
              <a:rPr sz="1400" b="0" dirty="0">
                <a:solidFill>
                  <a:srgbClr val="1E293B"/>
                </a:solidFill>
              </a:rPr>
              <a:t>Hardcoded AMI IDs cause failure when running Terraform in different regions or after Ubuntu updates.</a:t>
            </a:r>
          </a:p>
          <a:p>
            <a:pPr>
              <a:spcBef>
                <a:spcPts val="600"/>
              </a:spcBef>
              <a:defRPr sz="950" b="1">
                <a:solidFill>
                  <a:srgbClr val="16A34A"/>
                </a:solidFill>
              </a:defRPr>
            </a:pPr>
            <a:r>
              <a:rPr sz="1400" dirty="0"/>
              <a:t>Solution: </a:t>
            </a:r>
            <a:r>
              <a:rPr sz="1400" b="0" dirty="0">
                <a:solidFill>
                  <a:srgbClr val="64748B"/>
                </a:solidFill>
              </a:rPr>
              <a:t>Replaced static IDs with data '</a:t>
            </a:r>
            <a:r>
              <a:rPr sz="1400" b="0" dirty="0" err="1">
                <a:solidFill>
                  <a:srgbClr val="64748B"/>
                </a:solidFill>
              </a:rPr>
              <a:t>aws_ami</a:t>
            </a:r>
            <a:r>
              <a:rPr sz="1400" b="0" dirty="0">
                <a:solidFill>
                  <a:srgbClr val="64748B"/>
                </a:solidFill>
              </a:rPr>
              <a:t>' 'ubuntu' querying Canonical publisher ID (099720109477) for latest 22.04 LTS build.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7491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4. Restricting Docker Swarm Cluster Port Exposure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 b="1">
                <a:solidFill>
                  <a:srgbClr val="DC2626"/>
                </a:solidFill>
              </a:defRPr>
            </a:pPr>
            <a:r>
              <a:rPr sz="1400" dirty="0"/>
              <a:t>Challenge: </a:t>
            </a:r>
            <a:r>
              <a:rPr sz="1400" b="0" dirty="0">
                <a:solidFill>
                  <a:srgbClr val="1E293B"/>
                </a:solidFill>
              </a:rPr>
              <a:t>Exposing Swarm management (2377) and VXLAN (4789) to 0.0.0.0/0 introduces major security risks.</a:t>
            </a:r>
          </a:p>
          <a:p>
            <a:pPr>
              <a:spcBef>
                <a:spcPts val="600"/>
              </a:spcBef>
              <a:defRPr sz="950" b="1">
                <a:solidFill>
                  <a:srgbClr val="16A34A"/>
                </a:solidFill>
              </a:defRPr>
            </a:pPr>
            <a:r>
              <a:rPr sz="1400" dirty="0"/>
              <a:t>Solution: </a:t>
            </a:r>
            <a:r>
              <a:rPr sz="1400" b="0" dirty="0">
                <a:solidFill>
                  <a:srgbClr val="64748B"/>
                </a:solidFill>
              </a:rPr>
              <a:t>Configured Terraform security group ingress rules with self=true, isolating cluster communication strictly to nodes inside the security group.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DEMONSTRATION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Step-by-Step Live Demonstration for Lecturer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90600" y="1955954"/>
            <a:ext cx="4754880" cy="13901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Step 1: Live Web Application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Open browser: http://54.253.170.114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Demonstrates Nginx reverse proxy serving the full </a:t>
            </a:r>
            <a:r>
              <a:rPr lang="en-US" sz="1400" dirty="0"/>
              <a:t>	</a:t>
            </a:r>
            <a:r>
              <a:rPr sz="1400" dirty="0"/>
              <a:t>interactive dashboard on Port 80.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Verify real-time container hostname and system statistics.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4754880" cy="18210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Step 2: HTTP Endpoint Curl Verification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curl -s http://54.253.170.114/health  -&gt; Returns {"status": </a:t>
            </a:r>
            <a:r>
              <a:rPr lang="en-US" sz="1400" dirty="0"/>
              <a:t>	</a:t>
            </a:r>
            <a:r>
              <a:rPr sz="1400" dirty="0"/>
              <a:t>"healthy", "version": "1.0.0"}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curl -s http://54.253.170.114/api/info -&gt; Demonstrates </a:t>
            </a:r>
            <a:r>
              <a:rPr lang="en-US" sz="1400" dirty="0"/>
              <a:t>	</a:t>
            </a:r>
            <a:r>
              <a:rPr sz="1400" dirty="0"/>
              <a:t>round-robin hostname switching across replicas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curl -s http://54.253.170.114/nginx-health -&gt; Confirms </a:t>
            </a:r>
            <a:r>
              <a:rPr lang="en-US" sz="1400" dirty="0"/>
              <a:t>	</a:t>
            </a:r>
            <a:r>
              <a:rPr sz="1400" dirty="0"/>
              <a:t>load balancer routing integrity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754880" cy="160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rPr sz="1600" dirty="0"/>
              <a:t>Step 3: Jenkins CI/CD Automation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Open Jenkins: </a:t>
            </a:r>
            <a:r>
              <a:rPr sz="1400" dirty="0">
                <a:hlinkClick r:id="rId2"/>
              </a:rPr>
              <a:t>http://localhost:8080/job/Assignment-CI-</a:t>
            </a:r>
            <a:r>
              <a:rPr lang="en-US" sz="1400" dirty="0"/>
              <a:t>	</a:t>
            </a:r>
            <a:r>
              <a:rPr sz="1400" dirty="0"/>
              <a:t>CD/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Show Build #4 Pipeline Stage View with all 5 stages green.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Inspect console output confirming </a:t>
            </a:r>
            <a:r>
              <a:rPr sz="1400" dirty="0" err="1"/>
              <a:t>Pytest</a:t>
            </a:r>
            <a:r>
              <a:rPr sz="1400" dirty="0"/>
              <a:t> (5/5 passed, </a:t>
            </a:r>
            <a:r>
              <a:rPr lang="en-US" sz="1400" dirty="0"/>
              <a:t>	</a:t>
            </a:r>
            <a:r>
              <a:rPr sz="1400" dirty="0"/>
              <a:t>89% </a:t>
            </a:r>
            <a:r>
              <a:rPr sz="1400" dirty="0" err="1"/>
              <a:t>cov</a:t>
            </a:r>
            <a:r>
              <a:rPr sz="1400" dirty="0"/>
              <a:t>) and Flake8 (0 errors).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251960"/>
            <a:ext cx="4754880" cy="15747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0284C7"/>
                </a:solidFill>
                <a:latin typeface="Segoe UI"/>
              </a:defRPr>
            </a:pPr>
            <a:r>
              <a:rPr sz="1400" dirty="0"/>
              <a:t>Step 4: Docker Swarm Cluster via SSH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ssh -</a:t>
            </a:r>
            <a:r>
              <a:rPr sz="1400" dirty="0" err="1"/>
              <a:t>i</a:t>
            </a:r>
            <a:r>
              <a:rPr sz="1400" dirty="0"/>
              <a:t> </a:t>
            </a:r>
            <a:r>
              <a:rPr sz="1400" dirty="0" err="1"/>
              <a:t>chamroeunsaran.pem</a:t>
            </a:r>
            <a:r>
              <a:rPr sz="1400" dirty="0"/>
              <a:t> ubuntu@54.253.170.114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Run '</a:t>
            </a:r>
            <a:r>
              <a:rPr sz="1400" dirty="0" err="1"/>
              <a:t>sudo</a:t>
            </a:r>
            <a:r>
              <a:rPr sz="1400" dirty="0"/>
              <a:t> docker service </a:t>
            </a:r>
            <a:r>
              <a:rPr sz="1400" dirty="0" err="1"/>
              <a:t>ls'</a:t>
            </a:r>
            <a:r>
              <a:rPr sz="1400" dirty="0"/>
              <a:t> to demonstrate 2/2 backend </a:t>
            </a:r>
            <a:r>
              <a:rPr lang="en-US" sz="1400" dirty="0"/>
              <a:t>	</a:t>
            </a:r>
            <a:r>
              <a:rPr sz="1400" dirty="0"/>
              <a:t>and 1/1 nginx replicas.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950">
                <a:solidFill>
                  <a:srgbClr val="1E293B"/>
                </a:solidFill>
                <a:latin typeface="Segoe UI"/>
              </a:defRPr>
            </a:pPr>
            <a:r>
              <a:rPr sz="1400" dirty="0"/>
              <a:t>•  Run '</a:t>
            </a:r>
            <a:r>
              <a:rPr sz="1400" dirty="0" err="1"/>
              <a:t>sudo</a:t>
            </a:r>
            <a:r>
              <a:rPr sz="1400" dirty="0"/>
              <a:t> docker stack </a:t>
            </a:r>
            <a:r>
              <a:rPr sz="1400" dirty="0" err="1"/>
              <a:t>ps</a:t>
            </a:r>
            <a:r>
              <a:rPr sz="1400" dirty="0"/>
              <a:t> cicd-homework2' showing </a:t>
            </a:r>
            <a:r>
              <a:rPr lang="en-US" sz="1400" dirty="0"/>
              <a:t>	</a:t>
            </a:r>
            <a:r>
              <a:rPr sz="1400" dirty="0"/>
              <a:t>distributed tasks across cluster nodes.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0093"/>
            <a:ext cx="9601200" cy="33547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rPr dirty="0"/>
              <a:t>PROJECT DELIVERABLES &amp; CONCLUSION</a:t>
            </a:r>
          </a:p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rPr sz="1600" dirty="0"/>
              <a:t>All Capstone Requirements 100% Verified &amp; Fulfilled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rPr sz="1600" dirty="0"/>
              <a:t>✓ Git Repository: </a:t>
            </a:r>
            <a:r>
              <a:rPr sz="1600" b="0" dirty="0">
                <a:solidFill>
                  <a:srgbClr val="F8FAFC"/>
                </a:solidFill>
              </a:rPr>
              <a:t>https://github.com/Chamroeun12/Assignment (Clean commit history &amp; feature branches)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rPr sz="1600" dirty="0"/>
              <a:t>✓ CI/CD Pipeline: </a:t>
            </a:r>
            <a:r>
              <a:rPr sz="1600" b="0" dirty="0">
                <a:solidFill>
                  <a:srgbClr val="F8FAFC"/>
                </a:solidFill>
              </a:rPr>
              <a:t>Jenkins declarative pipeline with 5 automated stages (All Green in Build #4)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rPr sz="1600" dirty="0"/>
              <a:t>✓ Infrastructure as Code: </a:t>
            </a:r>
            <a:r>
              <a:rPr sz="1600" b="0" dirty="0">
                <a:solidFill>
                  <a:srgbClr val="F8FAFC"/>
                </a:solidFill>
              </a:rPr>
              <a:t>Complete Terraform modules with dynamic AMI, VPC, SGs, and EC2 nodes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rPr sz="1600" dirty="0"/>
              <a:t>✓ Container Orchestration: </a:t>
            </a:r>
            <a:r>
              <a:rPr sz="1600" b="0" dirty="0">
                <a:solidFill>
                  <a:srgbClr val="F8FAFC"/>
                </a:solidFill>
              </a:rPr>
              <a:t>Multi-node Docker Swarm with zero-downtime rolling updates &amp; Nginx proxy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rPr sz="1600" dirty="0"/>
              <a:t>✓ Official Report Deliverables: </a:t>
            </a:r>
            <a:r>
              <a:rPr sz="1600" b="0" dirty="0">
                <a:solidFill>
                  <a:srgbClr val="F8FAFC"/>
                </a:solidFill>
              </a:rPr>
              <a:t>REPORT.pdf (4 pages, embedded evidence) &amp; REPORT.docx formatted reports</a:t>
            </a:r>
          </a:p>
          <a:p>
            <a:pPr>
              <a:spcAft>
                <a:spcPts val="400"/>
              </a:spcAft>
              <a:defRPr sz="1100" b="1">
                <a:solidFill>
                  <a:srgbClr val="16A34A"/>
                </a:solidFill>
                <a:latin typeface="Segoe UI"/>
              </a:defRPr>
            </a:pPr>
            <a:r>
              <a:rPr sz="1600" dirty="0"/>
              <a:t>✓ Extra Credit (+5 Points): </a:t>
            </a:r>
            <a:r>
              <a:rPr sz="1600" b="0" dirty="0">
                <a:solidFill>
                  <a:srgbClr val="F8FAFC"/>
                </a:solidFill>
              </a:rPr>
              <a:t>Automated Telegram Bot push notification alerts configured and verified</a:t>
            </a:r>
          </a:p>
          <a:p>
            <a:br>
              <a:rPr sz="1600" dirty="0"/>
            </a:br>
            <a:r>
              <a:rPr sz="1600" dirty="0"/>
              <a:t>Thank You!  —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1816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</dc:creator>
  <cp:keywords/>
  <dc:description>generated using python-pptx</dc:description>
  <cp:lastModifiedBy>Chamroeun Saran</cp:lastModifiedBy>
  <cp:revision>16</cp:revision>
  <dcterms:created xsi:type="dcterms:W3CDTF">2013-01-27T09:14:16Z</dcterms:created>
  <dcterms:modified xsi:type="dcterms:W3CDTF">2026-10-31T18:24:15Z</dcterms:modified>
  <cp:category/>
</cp:coreProperties>
</file>