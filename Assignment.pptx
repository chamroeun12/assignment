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731520"/>
            <a:ext cx="10728655" cy="53949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188720" y="1280160"/>
            <a:ext cx="2926080" cy="365760"/>
          </a:xfrm>
          <a:prstGeom prst="round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CLOUD COMPUTING CAPSTONE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1828800"/>
            <a:ext cx="96012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Segoe UI"/>
              </a:defRPr>
            </a:pPr>
            <a:r>
              <a:t>Automated CI/CD, Infrastructure as Code &amp;</a:t>
            </a:r>
            <a:br/>
            <a:r>
              <a:t>Multi-Service Container Orchestration</a:t>
            </a:r>
          </a:p>
          <a:p>
            <a:pPr>
              <a:defRPr sz="1500">
                <a:solidFill>
                  <a:srgbClr val="E0F2FE"/>
                </a:solidFill>
                <a:latin typeface="Segoe UI"/>
              </a:defRPr>
            </a:pPr>
            <a:r>
              <a:t>Production Architecture on AWS EC2 with GitHub, Jenkins, Terraform, Docker Swarm &amp; Nginx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4114800"/>
            <a:ext cx="96012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Segoe UI"/>
              </a:defRPr>
            </a:pPr>
            <a:r>
              <a:t>Student / Engineer: Chamroeun Saran  |  Course: Master of Science in Cloud Computing</a:t>
            </a:r>
          </a:p>
          <a:p>
            <a:pPr>
              <a:defRPr sz="1100">
                <a:solidFill>
                  <a:srgbClr val="64748B"/>
                </a:solidFill>
                <a:latin typeface="Segoe UI"/>
              </a:defRPr>
            </a:pPr>
            <a:r>
              <a:t>Repository: https://github.com/Chamroeun12/Assignment  |  AWS Region: Sydney (ap-southeast-2)</a:t>
            </a:r>
          </a:p>
          <a:p>
            <a:pPr>
              <a:defRPr sz="1100" b="1">
                <a:solidFill>
                  <a:srgbClr val="16A34A"/>
                </a:solidFill>
                <a:latin typeface="Segoe UI"/>
              </a:defRPr>
            </a:pPr>
            <a:r>
              <a:t>Verification: Jenkins Pipeline #4 Passed  |  Live Cluster IP: 54.253.170.114  |  October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284C7"/>
                </a:solidFill>
                <a:latin typeface="Segoe UI"/>
              </a:defRPr>
            </a:pPr>
            <a:r>
              <a:t>CAPSTONE SCOPE &amp; OBJECTIVES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Engineering Goals &amp; Rubric Fulfillment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1828800" cy="36576"/>
          </a:xfrm>
          <a:prstGeom prst="rect">
            <a:avLst/>
          </a:prstGeom>
          <a:solidFill>
            <a:srgbClr val="0284C7"/>
          </a:solidFill>
          <a:ln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212080" cy="219456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783080"/>
            <a:ext cx="4754880" cy="1920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0284C7"/>
                </a:solidFill>
                <a:latin typeface="Segoe UI"/>
              </a:defRPr>
            </a:pPr>
            <a:r>
              <a:t>1. GitOps &amp; Version Control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  <a:latin typeface="Segoe UI"/>
              </a:defRPr>
            </a:pPr>
            <a:r>
              <a:t>•  Feature branching strategy (feature/eks-argocd-cicd)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  <a:latin typeface="Segoe UI"/>
              </a:defRPr>
            </a:pPr>
            <a:r>
              <a:t>•  Pull Request workflow with code reviews and automated hooks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  <a:latin typeface="Segoe UI"/>
              </a:defRPr>
            </a:pPr>
            <a:r>
              <a:t>•  Frequent, atomic commits with descriptive conventional messages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  <a:latin typeface="Segoe UI"/>
              </a:defRPr>
            </a:pPr>
            <a:r>
              <a:t>•  Zero credentials or sensitive secrets committed to repository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212080" cy="219456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520" y="1783080"/>
            <a:ext cx="4754880" cy="1920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0284C7"/>
                </a:solidFill>
                <a:latin typeface="Segoe UI"/>
              </a:defRPr>
            </a:pPr>
            <a:r>
              <a:t>2. Infrastructure as Code (IaC)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  <a:latin typeface="Segoe UI"/>
              </a:defRPr>
            </a:pPr>
            <a:r>
              <a:t>•  100% reproducible AWS EC2 infrastructure using Terraform HCL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  <a:latin typeface="Segoe UI"/>
              </a:defRPr>
            </a:pPr>
            <a:r>
              <a:t>•  Dedicated VPC, public subnets, internet gateway, and route tables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  <a:latin typeface="Segoe UI"/>
              </a:defRPr>
            </a:pPr>
            <a:r>
              <a:t>•  Least-privilege Security Groups with internal cluster isolation (self=true)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  <a:latin typeface="Segoe UI"/>
              </a:defRPr>
            </a:pPr>
            <a:r>
              <a:t>•  Dynamic Canonical Ubuntu 22.04 LTS AMI discovery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114800"/>
            <a:ext cx="5212080" cy="219456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4251960"/>
            <a:ext cx="4754880" cy="1920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0284C7"/>
                </a:solidFill>
                <a:latin typeface="Segoe UI"/>
              </a:defRPr>
            </a:pPr>
            <a:r>
              <a:t>3. Automated CI/CD Pipeline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  <a:latin typeface="Segoe UI"/>
              </a:defRPr>
            </a:pPr>
            <a:r>
              <a:t>•  Declarative Jenkinsfile pipeline triggered automatically on push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  <a:latin typeface="Segoe UI"/>
              </a:defRPr>
            </a:pPr>
            <a:r>
              <a:t>•  Automated PEP8 linting (Flake8) and unit tests (Pytest 5/5, 89% cov)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  <a:latin typeface="Segoe UI"/>
              </a:defRPr>
            </a:pPr>
            <a:r>
              <a:t>•  Container layer vulnerability scanning via Trivy CVE inspector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  <a:latin typeface="Segoe UI"/>
              </a:defRPr>
            </a:pPr>
            <a:r>
              <a:t>•  Automated image building and publishing to Amazon ECR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4114800"/>
            <a:ext cx="5212080" cy="219456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4251960"/>
            <a:ext cx="4754880" cy="1920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0284C7"/>
                </a:solidFill>
                <a:latin typeface="Segoe UI"/>
              </a:defRPr>
            </a:pPr>
            <a:r>
              <a:t>4. Resilient Container Orchestration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  <a:latin typeface="Segoe UI"/>
              </a:defRPr>
            </a:pPr>
            <a:r>
              <a:t>•  Docker Swarm multi-node cluster (1 Manager Leader + 2 Workers)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  <a:latin typeface="Segoe UI"/>
              </a:defRPr>
            </a:pPr>
            <a:r>
              <a:t>•  Nginx reverse proxy load-balancing traffic across backend replicas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  <a:latin typeface="Segoe UI"/>
              </a:defRPr>
            </a:pPr>
            <a:r>
              <a:t>•  Zero-downtime rolling update strategy (order: start-first)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  <a:latin typeface="Segoe UI"/>
              </a:defRPr>
            </a:pPr>
            <a:r>
              <a:t>•  Extra Credit (+5): Automated Telegram alerts on build status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284C7"/>
                </a:solidFill>
                <a:latin typeface="Segoe UI"/>
              </a:defRPr>
            </a:pPr>
            <a:r>
              <a:t>SYSTEM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End-to-End Request Path &amp; CI/CD Pipeline Topology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1828800" cy="36576"/>
          </a:xfrm>
          <a:prstGeom prst="rect">
            <a:avLst/>
          </a:prstGeom>
          <a:solidFill>
            <a:srgbClr val="0284C7"/>
          </a:solidFill>
          <a:ln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4754880" cy="46634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783080"/>
            <a:ext cx="4297680" cy="4297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0284C7"/>
                </a:solidFill>
                <a:latin typeface="Segoe UI"/>
              </a:defRPr>
            </a:pPr>
            <a:r>
              <a:t>Architecture Components</a:t>
            </a:r>
          </a:p>
          <a:p>
            <a:pPr>
              <a:spcAft>
                <a:spcPts val="400"/>
              </a:spcAft>
              <a:defRPr sz="1000" b="1">
                <a:solidFill>
                  <a:srgbClr val="0F172A"/>
                </a:solidFill>
                <a:latin typeface="Segoe UI"/>
              </a:defRPr>
            </a:pPr>
            <a:r>
              <a:t>• GitHub Repository: </a:t>
            </a:r>
            <a:r>
              <a:rPr b="0">
                <a:solidFill>
                  <a:srgbClr val="64748B"/>
                </a:solidFill>
              </a:rPr>
              <a:t>Authoritative source of truth for app code, Dockerfiles, and IaC.</a:t>
            </a:r>
          </a:p>
          <a:p>
            <a:pPr>
              <a:spcAft>
                <a:spcPts val="400"/>
              </a:spcAft>
              <a:defRPr sz="1000" b="1">
                <a:solidFill>
                  <a:srgbClr val="0F172A"/>
                </a:solidFill>
                <a:latin typeface="Segoe UI"/>
              </a:defRPr>
            </a:pPr>
            <a:r>
              <a:t>• Jenkins CI/CD: </a:t>
            </a:r>
            <a:r>
              <a:rPr b="0">
                <a:solidFill>
                  <a:srgbClr val="64748B"/>
                </a:solidFill>
              </a:rPr>
              <a:t>Automates testing, CVE scanning, ECR pushing, and stack deployment.</a:t>
            </a:r>
          </a:p>
          <a:p>
            <a:pPr>
              <a:spcAft>
                <a:spcPts val="400"/>
              </a:spcAft>
              <a:defRPr sz="1000" b="1">
                <a:solidFill>
                  <a:srgbClr val="0F172A"/>
                </a:solidFill>
                <a:latin typeface="Segoe UI"/>
              </a:defRPr>
            </a:pPr>
            <a:r>
              <a:t>• Amazon ECR: </a:t>
            </a:r>
            <a:r>
              <a:rPr b="0">
                <a:solidFill>
                  <a:srgbClr val="64748B"/>
                </a:solidFill>
              </a:rPr>
              <a:t>Private AES-256 encrypted registry hosting versioned container images.</a:t>
            </a:r>
          </a:p>
          <a:p>
            <a:pPr>
              <a:spcAft>
                <a:spcPts val="400"/>
              </a:spcAft>
              <a:defRPr sz="1000" b="1">
                <a:solidFill>
                  <a:srgbClr val="0F172A"/>
                </a:solidFill>
                <a:latin typeface="Segoe UI"/>
              </a:defRPr>
            </a:pPr>
            <a:r>
              <a:t>• AWS EC2 &amp; VPC: </a:t>
            </a:r>
            <a:r>
              <a:rPr b="0">
                <a:solidFill>
                  <a:srgbClr val="64748B"/>
                </a:solidFill>
              </a:rPr>
              <a:t>Dedicated 10.0.0.0/16 VPC with 1 Manager (t3.small) and 2 Workers (t3.micro).</a:t>
            </a:r>
          </a:p>
          <a:p>
            <a:pPr>
              <a:spcAft>
                <a:spcPts val="400"/>
              </a:spcAft>
              <a:defRPr sz="1000" b="1">
                <a:solidFill>
                  <a:srgbClr val="0F172A"/>
                </a:solidFill>
                <a:latin typeface="Segoe UI"/>
              </a:defRPr>
            </a:pPr>
            <a:r>
              <a:t>• Nginx Load Balancer: </a:t>
            </a:r>
            <a:r>
              <a:rPr b="0">
                <a:solidFill>
                  <a:srgbClr val="64748B"/>
                </a:solidFill>
              </a:rPr>
              <a:t>Reverse proxy on Port 80 distributing ingress across Flask replicas.</a:t>
            </a:r>
          </a:p>
          <a:p>
            <a:pPr>
              <a:spcAft>
                <a:spcPts val="400"/>
              </a:spcAft>
              <a:defRPr sz="1000" b="1">
                <a:solidFill>
                  <a:srgbClr val="0F172A"/>
                </a:solidFill>
                <a:latin typeface="Segoe UI"/>
              </a:defRPr>
            </a:pPr>
            <a:r>
              <a:t>• Docker Swarm Mesh: </a:t>
            </a:r>
            <a:r>
              <a:rPr b="0">
                <a:solidFill>
                  <a:srgbClr val="64748B"/>
                </a:solidFill>
              </a:rPr>
              <a:t>Overlay network (Port 4789) routing requests via internal VIP (backend_app).</a:t>
            </a:r>
          </a:p>
          <a:p>
            <a:pPr>
              <a:spcAft>
                <a:spcPts val="400"/>
              </a:spcAft>
              <a:defRPr sz="1000" b="1">
                <a:solidFill>
                  <a:srgbClr val="0F172A"/>
                </a:solidFill>
                <a:latin typeface="Segoe UI"/>
              </a:defRPr>
            </a:pPr>
            <a:r>
              <a:t>• Telegram Bot Alerts: </a:t>
            </a:r>
            <a:r>
              <a:rPr b="0">
                <a:solidFill>
                  <a:srgbClr val="64748B"/>
                </a:solidFill>
              </a:rPr>
              <a:t>Instant push notifications reporting job status, tag, and build health.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760720" y="1645920"/>
            <a:ext cx="5669280" cy="46634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CICD_Pipeline_Commit_to_Producti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7880" y="1783080"/>
            <a:ext cx="5394960" cy="3768979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284C7"/>
                </a:solidFill>
                <a:latin typeface="Segoe UI"/>
              </a:defRPr>
            </a:pPr>
            <a:r>
              <a:t>INFRASTRUCTURE AS CODE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Declarative AWS Provisioning via Terraform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1828800" cy="36576"/>
          </a:xfrm>
          <a:prstGeom prst="rect">
            <a:avLst/>
          </a:prstGeom>
          <a:solidFill>
            <a:srgbClr val="0284C7"/>
          </a:solidFill>
          <a:ln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4937760" cy="46634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783080"/>
            <a:ext cx="4480560" cy="4297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0284C7"/>
                </a:solidFill>
                <a:latin typeface="Segoe UI"/>
              </a:defRPr>
            </a:pPr>
            <a:r>
              <a:t>Terraform IaC Highlights</a:t>
            </a:r>
          </a:p>
          <a:p>
            <a:pPr>
              <a:spcAft>
                <a:spcPts val="500"/>
              </a:spcAft>
              <a:defRPr sz="1000" b="1">
                <a:solidFill>
                  <a:srgbClr val="0F172A"/>
                </a:solidFill>
                <a:latin typeface="Segoe UI"/>
              </a:defRPr>
            </a:pPr>
            <a:r>
              <a:t>• Modular Architecture: </a:t>
            </a:r>
            <a:r>
              <a:rPr b="0">
                <a:solidFill>
                  <a:srgbClr val="64748B"/>
                </a:solidFill>
              </a:rPr>
              <a:t>Structured across main.tf, variables.tf, outputs.tf, and backend.tf for maintainability.</a:t>
            </a:r>
          </a:p>
          <a:p>
            <a:pPr>
              <a:spcAft>
                <a:spcPts val="500"/>
              </a:spcAft>
              <a:defRPr sz="1000" b="1">
                <a:solidFill>
                  <a:srgbClr val="0F172A"/>
                </a:solidFill>
                <a:latin typeface="Segoe UI"/>
              </a:defRPr>
            </a:pPr>
            <a:r>
              <a:t>• Dynamic AMI Resolution: </a:t>
            </a:r>
            <a:r>
              <a:rPr b="0">
                <a:solidFill>
                  <a:srgbClr val="64748B"/>
                </a:solidFill>
              </a:rPr>
              <a:t>Uses data 'aws_ami' 'ubuntu' filter querying Canonical publisher (099720109477), eliminating hardcoded IDs.</a:t>
            </a:r>
          </a:p>
          <a:p>
            <a:pPr>
              <a:spcAft>
                <a:spcPts val="500"/>
              </a:spcAft>
              <a:defRPr sz="1000" b="1">
                <a:solidFill>
                  <a:srgbClr val="0F172A"/>
                </a:solidFill>
                <a:latin typeface="Segoe UI"/>
              </a:defRPr>
            </a:pPr>
            <a:r>
              <a:t>• Least-Privilege Security Group: </a:t>
            </a:r>
            <a:r>
              <a:rPr b="0">
                <a:solidFill>
                  <a:srgbClr val="64748B"/>
                </a:solidFill>
              </a:rPr>
              <a:t>Restricts SSH (22) to admin CIDR, Web (80/443) to public, and Swarm (2377, 7946, 4789) strictly to self=true.</a:t>
            </a:r>
          </a:p>
          <a:p>
            <a:pPr>
              <a:spcAft>
                <a:spcPts val="500"/>
              </a:spcAft>
              <a:defRPr sz="1000" b="1">
                <a:solidFill>
                  <a:srgbClr val="0F172A"/>
                </a:solidFill>
                <a:latin typeface="Segoe UI"/>
              </a:defRPr>
            </a:pPr>
            <a:r>
              <a:t>• Multi-Node Compute Topology: </a:t>
            </a:r>
            <a:r>
              <a:rPr b="0">
                <a:solidFill>
                  <a:srgbClr val="64748B"/>
                </a:solidFill>
              </a:rPr>
              <a:t>Provisions 1 Swarm Manager (t3.small) and 2 Workers (t3.micro) tagged with environment and role metadata.</a:t>
            </a:r>
          </a:p>
          <a:p>
            <a:pPr>
              <a:spcAft>
                <a:spcPts val="500"/>
              </a:spcAft>
              <a:defRPr sz="1000" b="1">
                <a:solidFill>
                  <a:srgbClr val="0F172A"/>
                </a:solidFill>
                <a:latin typeface="Segoe UI"/>
              </a:defRPr>
            </a:pPr>
            <a:r>
              <a:t>• State Management: </a:t>
            </a:r>
            <a:r>
              <a:rPr b="0">
                <a:solidFill>
                  <a:srgbClr val="64748B"/>
                </a:solidFill>
              </a:rPr>
              <a:t>Configured S3 remote state storage with DynamoDB state locking to prevent concurrent mutation conflicts.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0" y="1645920"/>
            <a:ext cx="5486400" cy="46634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erraform_appl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760" y="1828800"/>
            <a:ext cx="5212080" cy="406542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284C7"/>
                </a:solidFill>
                <a:latin typeface="Segoe UI"/>
              </a:defRPr>
            </a:pPr>
            <a:r>
              <a:t>CONTAINERIZATION STANDARDS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Production Dockerfile &amp; Security Hardening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1828800" cy="36576"/>
          </a:xfrm>
          <a:prstGeom prst="rect">
            <a:avLst/>
          </a:prstGeom>
          <a:solidFill>
            <a:srgbClr val="0284C7"/>
          </a:solidFill>
          <a:ln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4937760" cy="46634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783080"/>
            <a:ext cx="4480560" cy="4297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0284C7"/>
                </a:solidFill>
                <a:latin typeface="Segoe UI"/>
              </a:defRPr>
            </a:pPr>
            <a:r>
              <a:t>Containerization Standards</a:t>
            </a:r>
          </a:p>
          <a:p>
            <a:pPr>
              <a:spcAft>
                <a:spcPts val="600"/>
              </a:spcAft>
              <a:defRPr sz="1000" b="1">
                <a:solidFill>
                  <a:srgbClr val="0F172A"/>
                </a:solidFill>
                <a:latin typeface="Segoe UI"/>
              </a:defRPr>
            </a:pPr>
            <a:r>
              <a:t>• Multi-Stage Build Pattern: </a:t>
            </a:r>
            <a:r>
              <a:rPr b="0">
                <a:solidFill>
                  <a:srgbClr val="64748B"/>
                </a:solidFill>
              </a:rPr>
              <a:t>Separates Python compilation dependencies (builder) from minimal production runtime (python:3.10-slim).</a:t>
            </a:r>
          </a:p>
          <a:p>
            <a:pPr>
              <a:spcAft>
                <a:spcPts val="600"/>
              </a:spcAft>
              <a:defRPr sz="1000" b="1">
                <a:solidFill>
                  <a:srgbClr val="0F172A"/>
                </a:solidFill>
                <a:latin typeface="Segoe UI"/>
              </a:defRPr>
            </a:pPr>
            <a:r>
              <a:t>• Non-Root Security Context: </a:t>
            </a:r>
            <a:r>
              <a:rPr b="0">
                <a:solidFill>
                  <a:srgbClr val="64748B"/>
                </a:solidFill>
              </a:rPr>
              <a:t>Runs as dedicated appuser (UID 1000) with chown -R appuser:appuser /app to mitigate container breakout risks.</a:t>
            </a:r>
          </a:p>
          <a:p>
            <a:pPr>
              <a:spcAft>
                <a:spcPts val="600"/>
              </a:spcAft>
              <a:defRPr sz="1000" b="1">
                <a:solidFill>
                  <a:srgbClr val="0F172A"/>
                </a:solidFill>
                <a:latin typeface="Segoe UI"/>
              </a:defRPr>
            </a:pPr>
            <a:r>
              <a:t>• Container Healthcheck: </a:t>
            </a:r>
            <a:r>
              <a:rPr b="0">
                <a:solidFill>
                  <a:srgbClr val="64748B"/>
                </a:solidFill>
              </a:rPr>
              <a:t>Native Docker HEALTHCHECK validates endpoint http://127.0.0.1:5000/health every 30s with 3 retries.</a:t>
            </a:r>
          </a:p>
          <a:p>
            <a:pPr>
              <a:spcAft>
                <a:spcPts val="600"/>
              </a:spcAft>
              <a:defRPr sz="1000" b="1">
                <a:solidFill>
                  <a:srgbClr val="0F172A"/>
                </a:solidFill>
                <a:latin typeface="Segoe UI"/>
              </a:defRPr>
            </a:pPr>
            <a:r>
              <a:t>• Local Multi-Service Compose: </a:t>
            </a:r>
            <a:r>
              <a:rPr b="0">
                <a:solidFill>
                  <a:srgbClr val="64748B"/>
                </a:solidFill>
              </a:rPr>
              <a:t>docker-compose.yml defines local developer environment with web and nginx services sharing a bridge network.</a:t>
            </a:r>
          </a:p>
          <a:p>
            <a:pPr>
              <a:spcAft>
                <a:spcPts val="600"/>
              </a:spcAft>
              <a:defRPr sz="1000" b="1">
                <a:solidFill>
                  <a:srgbClr val="0F172A"/>
                </a:solidFill>
                <a:latin typeface="Segoe UI"/>
              </a:defRPr>
            </a:pPr>
            <a:r>
              <a:t>• Minimal Image Footprint: </a:t>
            </a:r>
            <a:r>
              <a:rPr b="0">
                <a:solidFill>
                  <a:srgbClr val="64748B"/>
                </a:solidFill>
              </a:rPr>
              <a:t>Utilizes .dockerignore to strip caches, git history, and secrets, reducing attack surface and pull latency.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0" y="1645920"/>
            <a:ext cx="5486400" cy="46634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app_container_healthch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760" y="2011680"/>
            <a:ext cx="5212080" cy="293179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284C7"/>
                </a:solidFill>
                <a:latin typeface="Segoe UI"/>
              </a:defRPr>
            </a:pPr>
            <a:r>
              <a:t>CI/CD PIPELINE AS CODE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Jenkins Declarative Pipeline — 100% Green Build #4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1828800" cy="36576"/>
          </a:xfrm>
          <a:prstGeom prst="rect">
            <a:avLst/>
          </a:prstGeom>
          <a:solidFill>
            <a:srgbClr val="0284C7"/>
          </a:solidFill>
          <a:ln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4754880" cy="46634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783080"/>
            <a:ext cx="4297680" cy="4297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0284C7"/>
                </a:solidFill>
                <a:latin typeface="Segoe UI"/>
              </a:defRPr>
            </a:pPr>
            <a:r>
              <a:t>Pipeline Stages &amp; Metrics</a:t>
            </a:r>
          </a:p>
          <a:p>
            <a:pPr>
              <a:spcAft>
                <a:spcPts val="400"/>
              </a:spcAft>
              <a:defRPr sz="1000" b="1">
                <a:solidFill>
                  <a:srgbClr val="16A34A"/>
                </a:solidFill>
                <a:latin typeface="Segoe UI"/>
              </a:defRPr>
            </a:pPr>
            <a:r>
              <a:t>✓ 1. Checkout SCM: </a:t>
            </a:r>
            <a:r>
              <a:rPr b="0">
                <a:solidFill>
                  <a:srgbClr val="64748B"/>
                </a:solidFill>
              </a:rPr>
              <a:t>Clones latest commit from GitHub (Chamroeun12/Assignment.git) and dynamically creates version tag.</a:t>
            </a:r>
          </a:p>
          <a:p>
            <a:pPr>
              <a:spcAft>
                <a:spcPts val="400"/>
              </a:spcAft>
              <a:defRPr sz="1000" b="1">
                <a:solidFill>
                  <a:srgbClr val="16A34A"/>
                </a:solidFill>
                <a:latin typeface="Segoe UI"/>
              </a:defRPr>
            </a:pPr>
            <a:r>
              <a:t>✓ 2. Build &amp; Test: </a:t>
            </a:r>
            <a:r>
              <a:rPr b="0">
                <a:solidFill>
                  <a:srgbClr val="64748B"/>
                </a:solidFill>
              </a:rPr>
              <a:t>Creates Python venv, runs Flake8 PEP 8 (0 errors) and Pytest (5/5 passed, 89% code coverage).</a:t>
            </a:r>
          </a:p>
          <a:p>
            <a:pPr>
              <a:spcAft>
                <a:spcPts val="400"/>
              </a:spcAft>
              <a:defRPr sz="1000" b="1">
                <a:solidFill>
                  <a:srgbClr val="16A34A"/>
                </a:solidFill>
                <a:latin typeface="Segoe UI"/>
              </a:defRPr>
            </a:pPr>
            <a:r>
              <a:t>✓ 3. Security &amp; Quality Scan: </a:t>
            </a:r>
            <a:r>
              <a:rPr b="0">
                <a:solidFill>
                  <a:srgbClr val="64748B"/>
                </a:solidFill>
              </a:rPr>
              <a:t>Scans container image layers for CVE vulnerabilities using Trivy inspector.</a:t>
            </a:r>
          </a:p>
          <a:p>
            <a:pPr>
              <a:spcAft>
                <a:spcPts val="400"/>
              </a:spcAft>
              <a:defRPr sz="1000" b="1">
                <a:solidFill>
                  <a:srgbClr val="16A34A"/>
                </a:solidFill>
                <a:latin typeface="Segoe UI"/>
              </a:defRPr>
            </a:pPr>
            <a:r>
              <a:t>✓ 4. Authenticate &amp; Push ECR: </a:t>
            </a:r>
            <a:r>
              <a:rPr b="0">
                <a:solidFill>
                  <a:srgbClr val="64748B"/>
                </a:solidFill>
              </a:rPr>
              <a:t>Authenticates Docker client via aws ecr get-login-password and publishes versioned &amp; latest tags.</a:t>
            </a:r>
          </a:p>
          <a:p>
            <a:pPr>
              <a:spcAft>
                <a:spcPts val="400"/>
              </a:spcAft>
              <a:defRPr sz="1000" b="1">
                <a:solidFill>
                  <a:srgbClr val="16A34A"/>
                </a:solidFill>
                <a:latin typeface="Segoe UI"/>
              </a:defRPr>
            </a:pPr>
            <a:r>
              <a:t>✓ 5. Deploy Stack to Swarm: </a:t>
            </a:r>
            <a:r>
              <a:rPr b="0">
                <a:solidFill>
                  <a:srgbClr val="64748B"/>
                </a:solidFill>
              </a:rPr>
              <a:t>Executes docker stack deploy --with-registry-auth to EC2 cluster with zero downtime.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760720" y="1645920"/>
            <a:ext cx="5669280" cy="46634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jenkins_build_success_li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7880" y="1874519"/>
            <a:ext cx="5394960" cy="235502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284C7"/>
                </a:solidFill>
                <a:latin typeface="Segoe UI"/>
              </a:defRPr>
            </a:pPr>
            <a:r>
              <a:t>CONTAINER ORCHESTRATION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Docker Swarm Multi-Node Topology &amp; Rolling Updates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1828800" cy="36576"/>
          </a:xfrm>
          <a:prstGeom prst="rect">
            <a:avLst/>
          </a:prstGeom>
          <a:solidFill>
            <a:srgbClr val="0284C7"/>
          </a:solidFill>
          <a:ln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4937760" cy="46634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783080"/>
            <a:ext cx="4480560" cy="4297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0284C7"/>
                </a:solidFill>
                <a:latin typeface="Segoe UI"/>
              </a:defRPr>
            </a:pPr>
            <a:r>
              <a:t>Swarm Cluster Architecture</a:t>
            </a:r>
          </a:p>
          <a:p>
            <a:pPr>
              <a:spcAft>
                <a:spcPts val="500"/>
              </a:spcAft>
              <a:defRPr sz="1000" b="1">
                <a:solidFill>
                  <a:srgbClr val="0F172A"/>
                </a:solidFill>
                <a:latin typeface="Segoe UI"/>
              </a:defRPr>
            </a:pPr>
            <a:r>
              <a:t>• Cluster Formation: </a:t>
            </a:r>
            <a:r>
              <a:rPr b="0">
                <a:solidFill>
                  <a:srgbClr val="64748B"/>
                </a:solidFill>
              </a:rPr>
              <a:t>1 Manager (Leader) managing Raft consensus (2377/tcp) and 2 Worker nodes in Ready &amp; Active state.</a:t>
            </a:r>
          </a:p>
          <a:p>
            <a:pPr>
              <a:spcAft>
                <a:spcPts val="500"/>
              </a:spcAft>
              <a:defRPr sz="1000" b="1">
                <a:solidFill>
                  <a:srgbClr val="0F172A"/>
                </a:solidFill>
                <a:latin typeface="Segoe UI"/>
              </a:defRPr>
            </a:pPr>
            <a:r>
              <a:t>• Routing Mesh &amp; Overlay Network: </a:t>
            </a:r>
            <a:r>
              <a:rPr b="0">
                <a:solidFill>
                  <a:srgbClr val="64748B"/>
                </a:solidFill>
              </a:rPr>
              <a:t>VXLAN overlay (4789/udp) provides multi-host container networking with built-in virtual IP load balancing.</a:t>
            </a:r>
          </a:p>
          <a:p>
            <a:pPr>
              <a:spcAft>
                <a:spcPts val="500"/>
              </a:spcAft>
              <a:defRPr sz="1000" b="1">
                <a:solidFill>
                  <a:srgbClr val="0F172A"/>
                </a:solidFill>
                <a:latin typeface="Segoe UI"/>
              </a:defRPr>
            </a:pPr>
            <a:r>
              <a:t>• Zero-Downtime Rolling Update: </a:t>
            </a:r>
            <a:r>
              <a:rPr b="0">
                <a:solidFill>
                  <a:srgbClr val="64748B"/>
                </a:solidFill>
              </a:rPr>
              <a:t>Configured order: start-first, parallelism: 1, delay: 10s. New container must pass healthcheck before terminating old task.</a:t>
            </a:r>
          </a:p>
          <a:p>
            <a:pPr>
              <a:spcAft>
                <a:spcPts val="500"/>
              </a:spcAft>
              <a:defRPr sz="1000" b="1">
                <a:solidFill>
                  <a:srgbClr val="0F172A"/>
                </a:solidFill>
                <a:latin typeface="Segoe UI"/>
              </a:defRPr>
            </a:pPr>
            <a:r>
              <a:t>• Credential Forwarding: </a:t>
            </a:r>
            <a:r>
              <a:rPr b="0">
                <a:solidFill>
                  <a:srgbClr val="64748B"/>
                </a:solidFill>
              </a:rPr>
              <a:t>Uses docker stack deploy --with-registry-auth so worker nodes authenticate securely with Amazon ECR via the manager.</a:t>
            </a:r>
          </a:p>
          <a:p>
            <a:pPr>
              <a:spcAft>
                <a:spcPts val="500"/>
              </a:spcAft>
              <a:defRPr sz="1000" b="1">
                <a:solidFill>
                  <a:srgbClr val="0F172A"/>
                </a:solidFill>
                <a:latin typeface="Segoe UI"/>
              </a:defRPr>
            </a:pPr>
            <a:r>
              <a:t>• Fault Tolerance: </a:t>
            </a:r>
            <a:r>
              <a:rPr b="0">
                <a:solidFill>
                  <a:srgbClr val="64748B"/>
                </a:solidFill>
              </a:rPr>
              <a:t>Automatic task rescheduling if any node or container fails, ensuring constant 2/2 replica availability.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0" y="1645920"/>
            <a:ext cx="5486400" cy="46634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warm_cluster_nod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760" y="2011680"/>
            <a:ext cx="5212080" cy="323149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284C7"/>
                </a:solidFill>
                <a:latin typeface="Segoe UI"/>
              </a:defRPr>
            </a:pPr>
            <a:r>
              <a:t>NETWORK INGRESS &amp; ROUTING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Nginx Reverse Proxy &amp; Round-Robin Load Balancing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1828800" cy="36576"/>
          </a:xfrm>
          <a:prstGeom prst="rect">
            <a:avLst/>
          </a:prstGeom>
          <a:solidFill>
            <a:srgbClr val="0284C7"/>
          </a:solidFill>
          <a:ln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4937760" cy="46634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783080"/>
            <a:ext cx="4480560" cy="4297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0284C7"/>
                </a:solidFill>
                <a:latin typeface="Segoe UI"/>
              </a:defRPr>
            </a:pPr>
            <a:r>
              <a:t>Reverse Proxy Architecture</a:t>
            </a:r>
          </a:p>
          <a:p>
            <a:pPr>
              <a:spcAft>
                <a:spcPts val="400"/>
              </a:spcAft>
              <a:defRPr sz="1000" b="1">
                <a:solidFill>
                  <a:srgbClr val="0F172A"/>
                </a:solidFill>
                <a:latin typeface="Segoe UI"/>
              </a:defRPr>
            </a:pPr>
            <a:r>
              <a:t>• Port 80 Ingress Termination: </a:t>
            </a:r>
            <a:r>
              <a:rPr b="0">
                <a:solidFill>
                  <a:srgbClr val="64748B"/>
                </a:solidFill>
              </a:rPr>
              <a:t>Nginx binds to host Port 80, shielding backend application containers from direct public exposure.</a:t>
            </a:r>
          </a:p>
          <a:p>
            <a:pPr>
              <a:spcAft>
                <a:spcPts val="400"/>
              </a:spcAft>
              <a:defRPr sz="1000" b="1">
                <a:solidFill>
                  <a:srgbClr val="0F172A"/>
                </a:solidFill>
                <a:latin typeface="Segoe UI"/>
              </a:defRPr>
            </a:pPr>
            <a:r>
              <a:t>• Round-Robin Traffic Balancing: </a:t>
            </a:r>
            <a:r>
              <a:rPr b="0">
                <a:solidFill>
                  <a:srgbClr val="64748B"/>
                </a:solidFill>
              </a:rPr>
              <a:t>Routes requests to internal VIP upstream backend_app (web:5000) across replicated Flask tasks.</a:t>
            </a:r>
          </a:p>
          <a:p>
            <a:pPr>
              <a:spcAft>
                <a:spcPts val="400"/>
              </a:spcAft>
              <a:defRPr sz="1000" b="1">
                <a:solidFill>
                  <a:srgbClr val="0F172A"/>
                </a:solidFill>
                <a:latin typeface="Segoe UI"/>
              </a:defRPr>
            </a:pPr>
            <a:r>
              <a:t>• GET / (Web UI): </a:t>
            </a:r>
            <a:r>
              <a:rPr b="0">
                <a:solidFill>
                  <a:srgbClr val="64748B"/>
                </a:solidFill>
              </a:rPr>
              <a:t>Renders interactive cloud dashboard showing hostname, system stats, and runtime metrics.</a:t>
            </a:r>
          </a:p>
          <a:p>
            <a:pPr>
              <a:spcAft>
                <a:spcPts val="400"/>
              </a:spcAft>
              <a:defRPr sz="1000" b="1">
                <a:solidFill>
                  <a:srgbClr val="0F172A"/>
                </a:solidFill>
                <a:latin typeface="Segoe UI"/>
              </a:defRPr>
            </a:pPr>
            <a:r>
              <a:t>• GET /health (Application Health): </a:t>
            </a:r>
            <a:r>
              <a:rPr b="0">
                <a:solidFill>
                  <a:srgbClr val="64748B"/>
                </a:solidFill>
              </a:rPr>
              <a:t>HTTP 200 OK returning {"status": "healthy", "version": "1.0.0"}.</a:t>
            </a:r>
          </a:p>
          <a:p>
            <a:pPr>
              <a:spcAft>
                <a:spcPts val="400"/>
              </a:spcAft>
              <a:defRPr sz="1000" b="1">
                <a:solidFill>
                  <a:srgbClr val="0F172A"/>
                </a:solidFill>
                <a:latin typeface="Segoe UI"/>
              </a:defRPr>
            </a:pPr>
            <a:r>
              <a:t>• GET /api/info (Backend Metadata): </a:t>
            </a:r>
            <a:r>
              <a:rPr b="0">
                <a:solidFill>
                  <a:srgbClr val="64748B"/>
                </a:solidFill>
              </a:rPr>
              <a:t>HTTP 200 OK displaying container hostname, cluster type (docker-swarm), and runtime.</a:t>
            </a:r>
          </a:p>
          <a:p>
            <a:pPr>
              <a:spcAft>
                <a:spcPts val="400"/>
              </a:spcAft>
              <a:defRPr sz="1000" b="1">
                <a:solidFill>
                  <a:srgbClr val="0F172A"/>
                </a:solidFill>
                <a:latin typeface="Segoe UI"/>
              </a:defRPr>
            </a:pPr>
            <a:r>
              <a:t>• GET /nginx-health: </a:t>
            </a:r>
            <a:r>
              <a:rPr b="0">
                <a:solidFill>
                  <a:srgbClr val="64748B"/>
                </a:solidFill>
              </a:rPr>
              <a:t>Dedicated proxy health probe confirming reverse proxy routing integrity.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0" y="1645920"/>
            <a:ext cx="5486400" cy="46634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nginx_load_balancer_cur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760" y="2011680"/>
            <a:ext cx="5212080" cy="354421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284C7"/>
                </a:solidFill>
                <a:latin typeface="Segoe UI"/>
              </a:defRPr>
            </a:pPr>
            <a:r>
              <a:t>OPERATIONAL OBSERVABILITY (+5 EXTRA CREDIT)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Real-Time CI/CD Notifications via Telegram Bot API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1828800" cy="36576"/>
          </a:xfrm>
          <a:prstGeom prst="rect">
            <a:avLst/>
          </a:prstGeom>
          <a:solidFill>
            <a:srgbClr val="0284C7"/>
          </a:solidFill>
          <a:ln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4937760" cy="46634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783080"/>
            <a:ext cx="4480560" cy="4297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0284C7"/>
                </a:solidFill>
                <a:latin typeface="Segoe UI"/>
              </a:defRPr>
            </a:pPr>
            <a:r>
              <a:t>Telegram Alerting System</a:t>
            </a:r>
          </a:p>
          <a:p>
            <a:pPr>
              <a:spcAft>
                <a:spcPts val="500"/>
              </a:spcAft>
              <a:defRPr sz="1000" b="1">
                <a:solidFill>
                  <a:srgbClr val="0F172A"/>
                </a:solidFill>
                <a:latin typeface="Segoe UI"/>
              </a:defRPr>
            </a:pPr>
            <a:r>
              <a:t>• Automated Post-Action Callbacks: </a:t>
            </a:r>
            <a:r>
              <a:rPr b="0">
                <a:solidFill>
                  <a:srgbClr val="64748B"/>
                </a:solidFill>
              </a:rPr>
              <a:t>Integrated directly into Jenkinsfile post { success { ... } failure { ... } } blocks.</a:t>
            </a:r>
          </a:p>
          <a:p>
            <a:pPr>
              <a:spcAft>
                <a:spcPts val="500"/>
              </a:spcAft>
              <a:defRPr sz="1000" b="1">
                <a:solidFill>
                  <a:srgbClr val="0F172A"/>
                </a:solidFill>
                <a:latin typeface="Segoe UI"/>
              </a:defRPr>
            </a:pPr>
            <a:r>
              <a:t>• Distinct Success &amp; Failure Alerts: </a:t>
            </a:r>
            <a:r>
              <a:rPr b="0">
                <a:solidFill>
                  <a:srgbClr val="64748B"/>
                </a:solidFill>
              </a:rPr>
              <a:t>Sends formatted markdown messages reporting Job name, Build #, Git SHA, and Target cluster.</a:t>
            </a:r>
          </a:p>
          <a:p>
            <a:pPr>
              <a:spcAft>
                <a:spcPts val="500"/>
              </a:spcAft>
              <a:defRPr sz="1000" b="1">
                <a:solidFill>
                  <a:srgbClr val="0F172A"/>
                </a:solidFill>
                <a:latin typeface="Segoe UI"/>
              </a:defRPr>
            </a:pPr>
            <a:r>
              <a:t>• Secure Credential Injection: </a:t>
            </a:r>
            <a:r>
              <a:rPr b="0">
                <a:solidFill>
                  <a:srgbClr val="64748B"/>
                </a:solidFill>
              </a:rPr>
              <a:t>Bot token and Chat ID are fetched dynamically via Jenkins withCredentials, preventing credential leaks.</a:t>
            </a:r>
          </a:p>
          <a:p>
            <a:pPr>
              <a:spcAft>
                <a:spcPts val="500"/>
              </a:spcAft>
              <a:defRPr sz="1000" b="1">
                <a:solidFill>
                  <a:srgbClr val="0F172A"/>
                </a:solidFill>
                <a:latin typeface="Segoe UI"/>
              </a:defRPr>
            </a:pPr>
            <a:r>
              <a:t>• Non-Blocking Resilient Design: </a:t>
            </a:r>
            <a:r>
              <a:rPr b="0">
                <a:solidFill>
                  <a:srgbClr val="64748B"/>
                </a:solidFill>
              </a:rPr>
              <a:t>Wrapped in try/catch with fallback logging so builds succeed even if notifications are skipped.</a:t>
            </a:r>
          </a:p>
          <a:p>
            <a:pPr>
              <a:spcAft>
                <a:spcPts val="500"/>
              </a:spcAft>
              <a:defRPr sz="1000" b="1">
                <a:solidFill>
                  <a:srgbClr val="0F172A"/>
                </a:solidFill>
                <a:latin typeface="Segoe UI"/>
              </a:defRPr>
            </a:pPr>
            <a:r>
              <a:t>• Mobile &amp; Desktop Instant Delivery: </a:t>
            </a:r>
            <a:r>
              <a:rPr b="0">
                <a:solidFill>
                  <a:srgbClr val="64748B"/>
                </a:solidFill>
              </a:rPr>
              <a:t>DevOps engineers receive push notifications seconds after pipeline completion on mobile devices.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0" y="1645920"/>
            <a:ext cx="5486400" cy="46634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elegram_notific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760" y="2011680"/>
            <a:ext cx="5212080" cy="4039362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284C7"/>
                </a:solidFill>
                <a:latin typeface="Segoe UI"/>
              </a:defRPr>
            </a:pPr>
            <a:r>
              <a:t>ENGINEERING RIGOR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Key Technical Challenges &amp; Production Solutions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1828800" cy="36576"/>
          </a:xfrm>
          <a:prstGeom prst="rect">
            <a:avLst/>
          </a:prstGeom>
          <a:solidFill>
            <a:srgbClr val="0284C7"/>
          </a:solidFill>
          <a:ln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212080" cy="219456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783080"/>
            <a:ext cx="4754880" cy="1920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0284C7"/>
                </a:solidFill>
                <a:latin typeface="Segoe UI"/>
              </a:defRPr>
            </a:pPr>
            <a:r>
              <a:t>1. Swarm Worker ECR Pull Authentication</a:t>
            </a:r>
          </a:p>
          <a:p>
            <a:pPr>
              <a:spcAft>
                <a:spcPts val="200"/>
              </a:spcAft>
              <a:defRPr b="1" sz="950">
                <a:solidFill>
                  <a:srgbClr val="DC2626"/>
                </a:solidFill>
              </a:defRPr>
            </a:pPr>
            <a:r>
              <a:t>Challenge: </a:t>
            </a:r>
            <a:r>
              <a:rPr b="0">
                <a:solidFill>
                  <a:srgbClr val="1E293B"/>
                </a:solidFill>
              </a:rPr>
              <a:t>Workers pull images directly from Amazon ECR but lacked AWS credentials stored on Manager.</a:t>
            </a:r>
          </a:p>
          <a:p>
            <a:pPr>
              <a:defRPr b="1" sz="950">
                <a:solidFill>
                  <a:srgbClr val="16A34A"/>
                </a:solidFill>
              </a:defRPr>
            </a:pPr>
            <a:r>
              <a:t>Solution: </a:t>
            </a:r>
            <a:r>
              <a:rPr b="0">
                <a:solidFill>
                  <a:srgbClr val="64748B"/>
                </a:solidFill>
              </a:rPr>
              <a:t>Added --with-registry-auth flag to docker stack deploy, which forwards the Manager's ECR auth token securely through Swarm Raft control plane.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212080" cy="219456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520" y="1783080"/>
            <a:ext cx="4754880" cy="1920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0284C7"/>
                </a:solidFill>
                <a:latin typeface="Segoe UI"/>
              </a:defRPr>
            </a:pPr>
            <a:r>
              <a:t>2. Zero Downtime During Redeployments</a:t>
            </a:r>
          </a:p>
          <a:p>
            <a:pPr>
              <a:spcAft>
                <a:spcPts val="200"/>
              </a:spcAft>
              <a:defRPr b="1" sz="950">
                <a:solidFill>
                  <a:srgbClr val="DC2626"/>
                </a:solidFill>
              </a:defRPr>
            </a:pPr>
            <a:r>
              <a:t>Challenge: </a:t>
            </a:r>
            <a:r>
              <a:rPr b="0">
                <a:solidFill>
                  <a:srgbClr val="1E293B"/>
                </a:solidFill>
              </a:rPr>
              <a:t>Default Docker redeployment terminates existing tasks before initializing new ones (order: stop-first).</a:t>
            </a:r>
          </a:p>
          <a:p>
            <a:pPr>
              <a:defRPr b="1" sz="950">
                <a:solidFill>
                  <a:srgbClr val="16A34A"/>
                </a:solidFill>
              </a:defRPr>
            </a:pPr>
            <a:r>
              <a:t>Solution: </a:t>
            </a:r>
            <a:r>
              <a:rPr b="0">
                <a:solidFill>
                  <a:srgbClr val="64748B"/>
                </a:solidFill>
              </a:rPr>
              <a:t>Configured order: start-first and parallelism: 1 with container healthcheck to guarantee new replicas are healthy before killing old tasks.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114800"/>
            <a:ext cx="5212080" cy="219456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4251960"/>
            <a:ext cx="4754880" cy="1920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0284C7"/>
                </a:solidFill>
                <a:latin typeface="Segoe UI"/>
              </a:defRPr>
            </a:pPr>
            <a:r>
              <a:t>3. Dynamic AMI Portability Across AWS Regions</a:t>
            </a:r>
          </a:p>
          <a:p>
            <a:pPr>
              <a:spcAft>
                <a:spcPts val="200"/>
              </a:spcAft>
              <a:defRPr b="1" sz="950">
                <a:solidFill>
                  <a:srgbClr val="DC2626"/>
                </a:solidFill>
              </a:defRPr>
            </a:pPr>
            <a:r>
              <a:t>Challenge: </a:t>
            </a:r>
            <a:r>
              <a:rPr b="0">
                <a:solidFill>
                  <a:srgbClr val="1E293B"/>
                </a:solidFill>
              </a:rPr>
              <a:t>Hardcoded AMI IDs cause failure when running Terraform in different regions or after Ubuntu updates.</a:t>
            </a:r>
          </a:p>
          <a:p>
            <a:pPr>
              <a:defRPr b="1" sz="950">
                <a:solidFill>
                  <a:srgbClr val="16A34A"/>
                </a:solidFill>
              </a:defRPr>
            </a:pPr>
            <a:r>
              <a:t>Solution: </a:t>
            </a:r>
            <a:r>
              <a:rPr b="0">
                <a:solidFill>
                  <a:srgbClr val="64748B"/>
                </a:solidFill>
              </a:rPr>
              <a:t>Replaced static IDs with data 'aws_ami' 'ubuntu' querying Canonical publisher ID (099720109477) for latest 22.04 LTS build.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4114800"/>
            <a:ext cx="5212080" cy="219456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4251960"/>
            <a:ext cx="4754880" cy="1920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0284C7"/>
                </a:solidFill>
                <a:latin typeface="Segoe UI"/>
              </a:defRPr>
            </a:pPr>
            <a:r>
              <a:t>4. Restricting Docker Swarm Cluster Port Exposure</a:t>
            </a:r>
          </a:p>
          <a:p>
            <a:pPr>
              <a:spcAft>
                <a:spcPts val="200"/>
              </a:spcAft>
              <a:defRPr b="1" sz="950">
                <a:solidFill>
                  <a:srgbClr val="DC2626"/>
                </a:solidFill>
              </a:defRPr>
            </a:pPr>
            <a:r>
              <a:t>Challenge: </a:t>
            </a:r>
            <a:r>
              <a:rPr b="0">
                <a:solidFill>
                  <a:srgbClr val="1E293B"/>
                </a:solidFill>
              </a:rPr>
              <a:t>Exposing Swarm management (2377) and VXLAN (4789) to 0.0.0.0/0 introduces major security risks.</a:t>
            </a:r>
          </a:p>
          <a:p>
            <a:pPr>
              <a:defRPr b="1" sz="950">
                <a:solidFill>
                  <a:srgbClr val="16A34A"/>
                </a:solidFill>
              </a:defRPr>
            </a:pPr>
            <a:r>
              <a:t>Solution: </a:t>
            </a:r>
            <a:r>
              <a:rPr b="0">
                <a:solidFill>
                  <a:srgbClr val="64748B"/>
                </a:solidFill>
              </a:rPr>
              <a:t>Configured Terraform security group ingress rules with self=true, isolating cluster communication strictly to nodes inside the security group.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284C7"/>
                </a:solidFill>
                <a:latin typeface="Segoe UI"/>
              </a:defRPr>
            </a:pPr>
            <a:r>
              <a:t>DEMONSTRATION &amp; VERIFICATION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Step-by-Step Live Demonstration for Lecturer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1828800" cy="36576"/>
          </a:xfrm>
          <a:prstGeom prst="rect">
            <a:avLst/>
          </a:prstGeom>
          <a:solidFill>
            <a:srgbClr val="0284C7"/>
          </a:solidFill>
          <a:ln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212080" cy="219456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783080"/>
            <a:ext cx="4754880" cy="1920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0284C7"/>
                </a:solidFill>
                <a:latin typeface="Segoe UI"/>
              </a:defRPr>
            </a:pPr>
            <a:r>
              <a:t>Step 1: Live Web Application</a:t>
            </a:r>
          </a:p>
          <a:p>
            <a:pPr>
              <a:spcAft>
                <a:spcPts val="200"/>
              </a:spcAft>
              <a:defRPr sz="950">
                <a:solidFill>
                  <a:srgbClr val="1E293B"/>
                </a:solidFill>
                <a:latin typeface="Segoe UI"/>
              </a:defRPr>
            </a:pPr>
            <a:r>
              <a:t>•  Open browser: http://54.253.170.114</a:t>
            </a:r>
          </a:p>
          <a:p>
            <a:pPr>
              <a:spcAft>
                <a:spcPts val="200"/>
              </a:spcAft>
              <a:defRPr sz="950">
                <a:solidFill>
                  <a:srgbClr val="1E293B"/>
                </a:solidFill>
                <a:latin typeface="Segoe UI"/>
              </a:defRPr>
            </a:pPr>
            <a:r>
              <a:t>•  Demonstrates Nginx reverse proxy serving the full interactive dashboard on Port 80.</a:t>
            </a:r>
          </a:p>
          <a:p>
            <a:pPr>
              <a:spcAft>
                <a:spcPts val="200"/>
              </a:spcAft>
              <a:defRPr sz="950">
                <a:solidFill>
                  <a:srgbClr val="1E293B"/>
                </a:solidFill>
                <a:latin typeface="Segoe UI"/>
              </a:defRPr>
            </a:pPr>
            <a:r>
              <a:t>•  Verify real-time container hostname and system statistics.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212080" cy="219456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520" y="1783080"/>
            <a:ext cx="4754880" cy="1920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0284C7"/>
                </a:solidFill>
                <a:latin typeface="Segoe UI"/>
              </a:defRPr>
            </a:pPr>
            <a:r>
              <a:t>Step 2: HTTP Endpoint Curl Verification</a:t>
            </a:r>
          </a:p>
          <a:p>
            <a:pPr>
              <a:spcAft>
                <a:spcPts val="200"/>
              </a:spcAft>
              <a:defRPr sz="950">
                <a:solidFill>
                  <a:srgbClr val="1E293B"/>
                </a:solidFill>
                <a:latin typeface="Segoe UI"/>
              </a:defRPr>
            </a:pPr>
            <a:r>
              <a:t>•  curl -s http://54.253.170.114/health  -&gt; Returns {"status": "healthy", "version": "1.0.0"}</a:t>
            </a:r>
          </a:p>
          <a:p>
            <a:pPr>
              <a:spcAft>
                <a:spcPts val="200"/>
              </a:spcAft>
              <a:defRPr sz="950">
                <a:solidFill>
                  <a:srgbClr val="1E293B"/>
                </a:solidFill>
                <a:latin typeface="Segoe UI"/>
              </a:defRPr>
            </a:pPr>
            <a:r>
              <a:t>•  curl -s http://54.253.170.114/api/info -&gt; Demonstrates round-robin hostname switching across replicas</a:t>
            </a:r>
          </a:p>
          <a:p>
            <a:pPr>
              <a:spcAft>
                <a:spcPts val="200"/>
              </a:spcAft>
              <a:defRPr sz="950">
                <a:solidFill>
                  <a:srgbClr val="1E293B"/>
                </a:solidFill>
                <a:latin typeface="Segoe UI"/>
              </a:defRPr>
            </a:pPr>
            <a:r>
              <a:t>•  curl -s http://54.253.170.114/nginx-health -&gt; Confirms load balancer routing integrity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114800"/>
            <a:ext cx="5212080" cy="219456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4251960"/>
            <a:ext cx="4754880" cy="1920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0284C7"/>
                </a:solidFill>
                <a:latin typeface="Segoe UI"/>
              </a:defRPr>
            </a:pPr>
            <a:r>
              <a:t>Step 3: Jenkins CI/CD Automation</a:t>
            </a:r>
          </a:p>
          <a:p>
            <a:pPr>
              <a:spcAft>
                <a:spcPts val="200"/>
              </a:spcAft>
              <a:defRPr sz="950">
                <a:solidFill>
                  <a:srgbClr val="1E293B"/>
                </a:solidFill>
                <a:latin typeface="Segoe UI"/>
              </a:defRPr>
            </a:pPr>
            <a:r>
              <a:t>•  Open Jenkins: http://localhost:8080/job/Assignment-CI-CD/</a:t>
            </a:r>
          </a:p>
          <a:p>
            <a:pPr>
              <a:spcAft>
                <a:spcPts val="200"/>
              </a:spcAft>
              <a:defRPr sz="950">
                <a:solidFill>
                  <a:srgbClr val="1E293B"/>
                </a:solidFill>
                <a:latin typeface="Segoe UI"/>
              </a:defRPr>
            </a:pPr>
            <a:r>
              <a:t>•  Show Build #4 Pipeline Stage View with all 5 stages green.</a:t>
            </a:r>
          </a:p>
          <a:p>
            <a:pPr>
              <a:spcAft>
                <a:spcPts val="200"/>
              </a:spcAft>
              <a:defRPr sz="950">
                <a:solidFill>
                  <a:srgbClr val="1E293B"/>
                </a:solidFill>
                <a:latin typeface="Segoe UI"/>
              </a:defRPr>
            </a:pPr>
            <a:r>
              <a:t>•  Inspect console output confirming Pytest (5/5 passed, 89% cov) and Flake8 (0 errors).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4114800"/>
            <a:ext cx="5212080" cy="219456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4251960"/>
            <a:ext cx="4754880" cy="1920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0284C7"/>
                </a:solidFill>
                <a:latin typeface="Segoe UI"/>
              </a:defRPr>
            </a:pPr>
            <a:r>
              <a:t>Step 4: Docker Swarm Cluster via SSH</a:t>
            </a:r>
          </a:p>
          <a:p>
            <a:pPr>
              <a:spcAft>
                <a:spcPts val="200"/>
              </a:spcAft>
              <a:defRPr sz="950">
                <a:solidFill>
                  <a:srgbClr val="1E293B"/>
                </a:solidFill>
                <a:latin typeface="Segoe UI"/>
              </a:defRPr>
            </a:pPr>
            <a:r>
              <a:t>•  ssh -i chamroeunsaran.pem ubuntu@54.253.170.114</a:t>
            </a:r>
          </a:p>
          <a:p>
            <a:pPr>
              <a:spcAft>
                <a:spcPts val="200"/>
              </a:spcAft>
              <a:defRPr sz="950">
                <a:solidFill>
                  <a:srgbClr val="1E293B"/>
                </a:solidFill>
                <a:latin typeface="Segoe UI"/>
              </a:defRPr>
            </a:pPr>
            <a:r>
              <a:t>•  Run 'sudo docker service ls' to demonstrate 2/2 backend and 1/1 nginx replicas.</a:t>
            </a:r>
          </a:p>
          <a:p>
            <a:pPr>
              <a:spcAft>
                <a:spcPts val="200"/>
              </a:spcAft>
              <a:defRPr sz="950">
                <a:solidFill>
                  <a:srgbClr val="1E293B"/>
                </a:solidFill>
                <a:latin typeface="Segoe UI"/>
              </a:defRPr>
            </a:pPr>
            <a:r>
              <a:t>•  Run 'sudo docker stack ps cicd-homework2' showing distributed tasks across cluster nodes.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731520"/>
            <a:ext cx="10728655" cy="53949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097280"/>
            <a:ext cx="960120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0284C7"/>
                </a:solidFill>
                <a:latin typeface="Segoe UI"/>
              </a:defRPr>
            </a:pPr>
            <a:r>
              <a:t>PROJECT DELIVERABLES &amp; CONCLUSION</a:t>
            </a:r>
          </a:p>
          <a:p>
            <a:pPr>
              <a:spcAft>
                <a:spcPts val="1200"/>
              </a:spcAft>
              <a:defRPr sz="2400" b="1">
                <a:solidFill>
                  <a:srgbClr val="FFFFFF"/>
                </a:solidFill>
                <a:latin typeface="Segoe UI"/>
              </a:defRPr>
            </a:pPr>
            <a:r>
              <a:t>All Capstone Requirements 100% Verified &amp; Fulfilled</a:t>
            </a:r>
          </a:p>
          <a:p>
            <a:pPr>
              <a:spcAft>
                <a:spcPts val="400"/>
              </a:spcAft>
              <a:defRPr sz="1100" b="1">
                <a:solidFill>
                  <a:srgbClr val="16A34A"/>
                </a:solidFill>
                <a:latin typeface="Segoe UI"/>
              </a:defRPr>
            </a:pPr>
            <a:r>
              <a:t>✓ Git Repository: </a:t>
            </a:r>
            <a:r>
              <a:rPr b="0">
                <a:solidFill>
                  <a:srgbClr val="F8FAFC"/>
                </a:solidFill>
              </a:rPr>
              <a:t>https://github.com/Chamroeun12/Assignment (Clean commit history &amp; feature branches)</a:t>
            </a:r>
          </a:p>
          <a:p>
            <a:pPr>
              <a:spcAft>
                <a:spcPts val="400"/>
              </a:spcAft>
              <a:defRPr sz="1100" b="1">
                <a:solidFill>
                  <a:srgbClr val="16A34A"/>
                </a:solidFill>
                <a:latin typeface="Segoe UI"/>
              </a:defRPr>
            </a:pPr>
            <a:r>
              <a:t>✓ CI/CD Pipeline: </a:t>
            </a:r>
            <a:r>
              <a:rPr b="0">
                <a:solidFill>
                  <a:srgbClr val="F8FAFC"/>
                </a:solidFill>
              </a:rPr>
              <a:t>Jenkins declarative pipeline with 5 automated stages (All Green in Build #4)</a:t>
            </a:r>
          </a:p>
          <a:p>
            <a:pPr>
              <a:spcAft>
                <a:spcPts val="400"/>
              </a:spcAft>
              <a:defRPr sz="1100" b="1">
                <a:solidFill>
                  <a:srgbClr val="16A34A"/>
                </a:solidFill>
                <a:latin typeface="Segoe UI"/>
              </a:defRPr>
            </a:pPr>
            <a:r>
              <a:t>✓ Infrastructure as Code: </a:t>
            </a:r>
            <a:r>
              <a:rPr b="0">
                <a:solidFill>
                  <a:srgbClr val="F8FAFC"/>
                </a:solidFill>
              </a:rPr>
              <a:t>Complete Terraform modules with dynamic AMI, VPC, SGs, and EC2 nodes</a:t>
            </a:r>
          </a:p>
          <a:p>
            <a:pPr>
              <a:spcAft>
                <a:spcPts val="400"/>
              </a:spcAft>
              <a:defRPr sz="1100" b="1">
                <a:solidFill>
                  <a:srgbClr val="16A34A"/>
                </a:solidFill>
                <a:latin typeface="Segoe UI"/>
              </a:defRPr>
            </a:pPr>
            <a:r>
              <a:t>✓ Container Orchestration: </a:t>
            </a:r>
            <a:r>
              <a:rPr b="0">
                <a:solidFill>
                  <a:srgbClr val="F8FAFC"/>
                </a:solidFill>
              </a:rPr>
              <a:t>Multi-node Docker Swarm with zero-downtime rolling updates &amp; Nginx proxy</a:t>
            </a:r>
          </a:p>
          <a:p>
            <a:pPr>
              <a:spcAft>
                <a:spcPts val="400"/>
              </a:spcAft>
              <a:defRPr sz="1100" b="1">
                <a:solidFill>
                  <a:srgbClr val="16A34A"/>
                </a:solidFill>
                <a:latin typeface="Segoe UI"/>
              </a:defRPr>
            </a:pPr>
            <a:r>
              <a:t>✓ Official Report Deliverables: </a:t>
            </a:r>
            <a:r>
              <a:rPr b="0">
                <a:solidFill>
                  <a:srgbClr val="F8FAFC"/>
                </a:solidFill>
              </a:rPr>
              <a:t>REPORT.pdf (4 pages, embedded evidence) &amp; REPORT.docx formatted reports</a:t>
            </a:r>
          </a:p>
          <a:p>
            <a:pPr>
              <a:spcAft>
                <a:spcPts val="400"/>
              </a:spcAft>
              <a:defRPr sz="1100" b="1">
                <a:solidFill>
                  <a:srgbClr val="16A34A"/>
                </a:solidFill>
                <a:latin typeface="Segoe UI"/>
              </a:defRPr>
            </a:pPr>
            <a:r>
              <a:t>✓ Extra Credit (+5 Points): </a:t>
            </a:r>
            <a:r>
              <a:rPr b="0">
                <a:solidFill>
                  <a:srgbClr val="F8FAFC"/>
                </a:solidFill>
              </a:rPr>
              <a:t>Automated Telegram Bot push notification alerts configured and verified</a:t>
            </a:r>
          </a:p>
          <a:p>
            <a:br/>
            <a:pPr algn="ctr">
              <a:defRPr sz="1600" b="1">
                <a:solidFill>
                  <a:srgbClr val="0284C7"/>
                </a:solidFill>
                <a:latin typeface="Segoe UI"/>
              </a:defRPr>
            </a:pPr>
            <a:r>
              <a:t>Thank You!  —  Questions &amp; Discussion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